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006840" y="685800"/>
            <a:ext cx="1965960" cy="1965960"/>
          </a:xfrm>
          <a:prstGeom prst="round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555480" y="1234440"/>
            <a:ext cx="868680" cy="868680"/>
          </a:xfrm>
          <a:prstGeom prst="roundRect">
            <a:avLst/>
          </a:prstGeom>
          <a:solidFill>
            <a:srgbClr val="FF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58200" y="4343400"/>
            <a:ext cx="1143000" cy="1143000"/>
          </a:xfrm>
          <a:prstGeom prst="round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12680" y="4800600"/>
            <a:ext cx="658368" cy="658368"/>
          </a:xfrm>
          <a:prstGeom prst="round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234440"/>
            <a:ext cx="6766560" cy="731520"/>
          </a:xfrm>
          <a:prstGeom prst="rect">
            <a:avLst/>
          </a:prstGeom>
          <a:noFill/>
        </p:spPr>
        <p:txBody>
          <a:bodyPr wrap="square" anchor="t">
            <a:spAutoFit/>
          </a:bodyPr>
          <a:lstStyle/>
          <a:p>
            <a:pPr algn="l"/>
            <a:r>
              <a:rPr sz="4800" b="1">
                <a:solidFill>
                  <a:srgbClr val="F26C2D"/>
                </a:solidFill>
                <a:latin typeface="Aptos Display"/>
              </a:rPr>
              <a:t>FOODGO</a:t>
            </a:r>
          </a:p>
        </p:txBody>
      </p:sp>
      <p:sp>
        <p:nvSpPr>
          <p:cNvPr id="9" name="TextBox 8"/>
          <p:cNvSpPr txBox="1"/>
          <p:nvPr/>
        </p:nvSpPr>
        <p:spPr>
          <a:xfrm>
            <a:off x="841248" y="2057400"/>
            <a:ext cx="7040880" cy="1371600"/>
          </a:xfrm>
          <a:prstGeom prst="rect">
            <a:avLst/>
          </a:prstGeom>
          <a:noFill/>
        </p:spPr>
        <p:txBody>
          <a:bodyPr wrap="square" anchor="t">
            <a:spAutoFit/>
          </a:bodyPr>
          <a:lstStyle/>
          <a:p>
            <a:pPr algn="l"/>
            <a:r>
              <a:rPr sz="3200" b="1">
                <a:solidFill>
                  <a:srgbClr val="FFFFFF"/>
                </a:solidFill>
                <a:latin typeface="Aptos Display"/>
              </a:rPr>
              <a:t>Food Delivery
Management System</a:t>
            </a:r>
          </a:p>
        </p:txBody>
      </p:sp>
      <p:sp>
        <p:nvSpPr>
          <p:cNvPr id="10" name="TextBox 9"/>
          <p:cNvSpPr txBox="1"/>
          <p:nvPr/>
        </p:nvSpPr>
        <p:spPr>
          <a:xfrm>
            <a:off x="868680" y="3794760"/>
            <a:ext cx="6309360" cy="457200"/>
          </a:xfrm>
          <a:prstGeom prst="rect">
            <a:avLst/>
          </a:prstGeom>
          <a:noFill/>
        </p:spPr>
        <p:txBody>
          <a:bodyPr wrap="square" anchor="t">
            <a:spAutoFit/>
          </a:bodyPr>
          <a:lstStyle/>
          <a:p>
            <a:pPr algn="l"/>
            <a:r>
              <a:rPr sz="1900" b="0">
                <a:solidFill>
                  <a:srgbClr val="DCE0E5"/>
                </a:solidFill>
                <a:latin typeface="Aptos"/>
              </a:rPr>
              <a:t>A Django + PostgreSQL DBMS Project</a:t>
            </a:r>
          </a:p>
        </p:txBody>
      </p:sp>
      <p:sp>
        <p:nvSpPr>
          <p:cNvPr id="11" name="TextBox 10"/>
          <p:cNvSpPr txBox="1"/>
          <p:nvPr/>
        </p:nvSpPr>
        <p:spPr>
          <a:xfrm>
            <a:off x="868680" y="4407408"/>
            <a:ext cx="6949440" cy="502920"/>
          </a:xfrm>
          <a:prstGeom prst="rect">
            <a:avLst/>
          </a:prstGeom>
          <a:noFill/>
        </p:spPr>
        <p:txBody>
          <a:bodyPr wrap="square" anchor="t">
            <a:spAutoFit/>
          </a:bodyPr>
          <a:lstStyle/>
          <a:p>
            <a:pPr algn="l"/>
            <a:r>
              <a:rPr sz="1350" b="0">
                <a:solidFill>
                  <a:srgbClr val="B2B9C2"/>
                </a:solidFill>
                <a:latin typeface="Aptos"/>
              </a:rPr>
              <a:t>Restaurant Management  •  Food Items  •  Cart  •  Authentication</a:t>
            </a:r>
          </a:p>
        </p:txBody>
      </p:sp>
      <p:sp>
        <p:nvSpPr>
          <p:cNvPr id="12" name="Rectangle 11"/>
          <p:cNvSpPr/>
          <p:nvPr/>
        </p:nvSpPr>
        <p:spPr>
          <a:xfrm>
            <a:off x="868680" y="640080"/>
            <a:ext cx="2057400" cy="54864"/>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731520"/>
            <a:ext cx="3017520" cy="320040"/>
          </a:xfrm>
          <a:prstGeom prst="rect">
            <a:avLst/>
          </a:prstGeom>
          <a:noFill/>
        </p:spPr>
        <p:txBody>
          <a:bodyPr wrap="square" anchor="t">
            <a:spAutoFit/>
          </a:bodyPr>
          <a:lstStyle/>
          <a:p>
            <a:pPr algn="l"/>
            <a:r>
              <a:rPr sz="1100" b="1">
                <a:solidFill>
                  <a:srgbClr val="FF924C"/>
                </a:solidFill>
                <a:latin typeface="Aptos"/>
              </a:rPr>
              <a:t>PROJECT PRESENTATION</a:t>
            </a:r>
          </a:p>
        </p:txBody>
      </p:sp>
      <p:sp>
        <p:nvSpPr>
          <p:cNvPr id="14" name="Presented By"/>
          <p:cNvSpPr txBox="1"/>
          <p:nvPr/>
        </p:nvSpPr>
        <p:spPr>
          <a:xfrm>
            <a:off x="822960" y="5212080"/>
            <a:ext cx="3474720" cy="1280160"/>
          </a:xfrm>
          <a:prstGeom prst="rect">
            <a:avLst/>
          </a:prstGeom>
          <a:noFill/>
        </p:spPr>
        <p:txBody>
          <a:bodyPr wrap="square" anchor="t">
            <a:spAutoFit/>
          </a:bodyPr>
          <a:lstStyle/>
          <a:p>
            <a:pPr algn="l">
              <a:spcBef>
                <a:spcPts val="0"/>
              </a:spcBef>
            </a:pPr>
            <a:r>
              <a:rPr lang="en-US" sz="1100" b="1">
                <a:solidFill>
                  <a:srgbClr val="FF924C"/>
                </a:solidFill>
                <a:latin typeface="Aptos"/>
              </a:rPr>
              <a:t>PRESENTED BY</a:t>
            </a:r>
          </a:p>
          <a:p>
            <a:pPr algn="l">
              <a:spcBef>
                <a:spcPts val="600"/>
              </a:spcBef>
            </a:pPr>
            <a:r>
              <a:rPr lang="en-US" sz="1400" b="0">
                <a:solidFill>
                  <a:srgbClr val="FFFFFF"/>
                </a:solidFill>
                <a:latin typeface="Aptos"/>
              </a:rPr>
              <a:t>SAGAR MUDALIYAR</a:t>
            </a:r>
          </a:p>
          <a:p>
            <a:pPr algn="l">
              <a:spcBef>
                <a:spcPts val="600"/>
              </a:spcBef>
            </a:pPr>
            <a:r>
              <a:rPr lang="en-US" sz="1400" b="0">
                <a:solidFill>
                  <a:srgbClr val="FFFFFF"/>
                </a:solidFill>
                <a:latin typeface="Aptos"/>
              </a:rPr>
              <a:t>LAVISH MUDALIAR</a:t>
            </a:r>
          </a:p>
          <a:p>
            <a:pPr algn="l">
              <a:spcBef>
                <a:spcPts val="600"/>
              </a:spcBef>
            </a:pPr>
            <a:r>
              <a:rPr lang="en-US" sz="1400" b="0">
                <a:solidFill>
                  <a:srgbClr val="FFFFFF"/>
                </a:solidFill>
                <a:latin typeface="Aptos"/>
              </a:rPr>
              <a:t>ATHARVA PATIL</a:t>
            </a:r>
          </a:p>
        </p:txBody>
      </p:sp>
      <p:sp>
        <p:nvSpPr>
          <p:cNvPr id="15" name="Roll No"/>
          <p:cNvSpPr txBox="1"/>
          <p:nvPr/>
        </p:nvSpPr>
        <p:spPr>
          <a:xfrm>
            <a:off x="4389120" y="5212080"/>
            <a:ext cx="1828800" cy="1280160"/>
          </a:xfrm>
          <a:prstGeom prst="rect">
            <a:avLst/>
          </a:prstGeom>
          <a:noFill/>
        </p:spPr>
        <p:txBody>
          <a:bodyPr wrap="square" anchor="t">
            <a:spAutoFit/>
          </a:bodyPr>
          <a:lstStyle/>
          <a:p>
            <a:pPr algn="l">
              <a:spcBef>
                <a:spcPts val="0"/>
              </a:spcBef>
            </a:pPr>
            <a:r>
              <a:rPr lang="en-US" sz="1100" b="1">
                <a:solidFill>
                  <a:srgbClr val="FF924C"/>
                </a:solidFill>
                <a:latin typeface="Aptos"/>
              </a:rPr>
              <a:t>ROLL NO</a:t>
            </a:r>
          </a:p>
          <a:p>
            <a:pPr algn="l">
              <a:spcBef>
                <a:spcPts val="600"/>
              </a:spcBef>
            </a:pPr>
            <a:r>
              <a:rPr lang="en-US" sz="1400" b="0">
                <a:solidFill>
                  <a:srgbClr val="FFFFFF"/>
                </a:solidFill>
                <a:latin typeface="Aptos"/>
              </a:rPr>
              <a:t>125A9027</a:t>
            </a:r>
          </a:p>
          <a:p>
            <a:pPr algn="l">
              <a:spcBef>
                <a:spcPts val="600"/>
              </a:spcBef>
            </a:pPr>
            <a:r>
              <a:rPr lang="en-US" sz="1400" b="0">
                <a:solidFill>
                  <a:srgbClr val="FFFFFF"/>
                </a:solidFill>
                <a:latin typeface="Aptos"/>
              </a:rPr>
              <a:t>125A9026</a:t>
            </a:r>
          </a:p>
          <a:p>
            <a:pPr algn="l">
              <a:spcBef>
                <a:spcPts val="600"/>
              </a:spcBef>
            </a:pPr>
            <a:r>
              <a:rPr lang="en-US" sz="1400" b="0">
                <a:solidFill>
                  <a:srgbClr val="FFFFFF"/>
                </a:solidFill>
                <a:latin typeface="Aptos"/>
              </a:rPr>
              <a:t>125A9040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01 • INTRODUCTION</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Problem Statement</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02</a:t>
            </a:r>
          </a:p>
        </p:txBody>
      </p:sp>
      <p:sp>
        <p:nvSpPr>
          <p:cNvPr id="8" name="Rounded Rectangle 7"/>
          <p:cNvSpPr/>
          <p:nvPr/>
        </p:nvSpPr>
        <p:spPr>
          <a:xfrm>
            <a:off x="713232" y="1691640"/>
            <a:ext cx="10771632" cy="306324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691640"/>
            <a:ext cx="109728" cy="30632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847088"/>
            <a:ext cx="548640" cy="640080"/>
          </a:xfrm>
          <a:prstGeom prst="rect">
            <a:avLst/>
          </a:prstGeom>
          <a:noFill/>
        </p:spPr>
        <p:txBody>
          <a:bodyPr wrap="square" anchor="t">
            <a:spAutoFit/>
          </a:bodyPr>
          <a:lstStyle/>
          <a:p>
            <a:pPr algn="l"/>
            <a:r>
              <a:rPr sz="4600" b="1">
                <a:solidFill>
                  <a:srgbClr val="F26C2D"/>
                </a:solidFill>
                <a:latin typeface="Aptos"/>
              </a:rPr>
              <a:t>“</a:t>
            </a:r>
          </a:p>
        </p:txBody>
      </p:sp>
      <p:sp>
        <p:nvSpPr>
          <p:cNvPr id="11" name="TextBox 10"/>
          <p:cNvSpPr txBox="1"/>
          <p:nvPr/>
        </p:nvSpPr>
        <p:spPr>
          <a:xfrm>
            <a:off x="1417320" y="2084831"/>
            <a:ext cx="9464040" cy="2148840"/>
          </a:xfrm>
          <a:prstGeom prst="rect">
            <a:avLst/>
          </a:prstGeom>
          <a:noFill/>
        </p:spPr>
        <p:txBody>
          <a:bodyPr wrap="square" anchor="t">
            <a:spAutoFit/>
          </a:bodyPr>
          <a:lstStyle/>
          <a:p>
            <a:pPr algn="l"/>
            <a:r>
              <a:rPr sz="1700" b="0">
                <a:solidFill>
                  <a:srgbClr val="FFFFFF"/>
                </a:solidFill>
                <a:latin typeface="Aptos"/>
              </a:rPr>
              <a:t>Traditional or manually managed food-ordering systems can make it difficult to maintain restaurant information, food items, user accounts and cart records in a structured manner. As the number of users and food records increases, managing these details without a centralized database can lead to duplication, inconsistent data and inefficient operations. FoodGo addresses this problem by providing a web-based food delivery management system where users can register and log in, browse restaurants, view food items and manage their cart, while the application stores and manages the information using Django and PostgreSQL.</a:t>
            </a:r>
          </a:p>
        </p:txBody>
      </p:sp>
      <p:sp>
        <p:nvSpPr>
          <p:cNvPr id="12" name="TextBox 11"/>
          <p:cNvSpPr txBox="1"/>
          <p:nvPr/>
        </p:nvSpPr>
        <p:spPr>
          <a:xfrm>
            <a:off x="1417320" y="4315968"/>
            <a:ext cx="9235440" cy="365760"/>
          </a:xfrm>
          <a:prstGeom prst="rect">
            <a:avLst/>
          </a:prstGeom>
          <a:noFill/>
        </p:spPr>
        <p:txBody>
          <a:bodyPr wrap="square" anchor="t">
            <a:spAutoFit/>
          </a:bodyPr>
          <a:lstStyle/>
          <a:p>
            <a:pPr algn="l"/>
            <a:r>
              <a:rPr sz="1250" b="1">
                <a:solidFill>
                  <a:srgbClr val="F26C2D"/>
                </a:solidFill>
                <a:latin typeface="Aptos"/>
              </a:rPr>
              <a:t>The project demonstrates how DBMS concepts can be applied to a practical web application.</a:t>
            </a:r>
          </a:p>
        </p:txBody>
      </p:sp>
      <p:sp>
        <p:nvSpPr>
          <p:cNvPr id="13" name="Rectangle 12"/>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02 • GOALS</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Project Objectives</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03</a:t>
            </a:r>
          </a:p>
        </p:txBody>
      </p:sp>
      <p:sp>
        <p:nvSpPr>
          <p:cNvPr id="8" name="Rounded Rectangle 7"/>
          <p:cNvSpPr/>
          <p:nvPr/>
        </p:nvSpPr>
        <p:spPr>
          <a:xfrm>
            <a:off x="658368"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572768"/>
            <a:ext cx="73152" cy="16642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73936"/>
            <a:ext cx="502920" cy="274320"/>
          </a:xfrm>
          <a:prstGeom prst="rect">
            <a:avLst/>
          </a:prstGeom>
          <a:noFill/>
        </p:spPr>
        <p:txBody>
          <a:bodyPr wrap="square" anchor="t">
            <a:spAutoFit/>
          </a:bodyPr>
          <a:lstStyle/>
          <a:p>
            <a:pPr algn="l"/>
            <a:r>
              <a:rPr sz="1100" b="1">
                <a:solidFill>
                  <a:srgbClr val="F26C2D"/>
                </a:solidFill>
                <a:latin typeface="Aptos"/>
              </a:rPr>
              <a:t>01</a:t>
            </a:r>
          </a:p>
        </p:txBody>
      </p:sp>
      <p:sp>
        <p:nvSpPr>
          <p:cNvPr id="11" name="TextBox 10"/>
          <p:cNvSpPr txBox="1"/>
          <p:nvPr/>
        </p:nvSpPr>
        <p:spPr>
          <a:xfrm>
            <a:off x="886968" y="2139696"/>
            <a:ext cx="2999232" cy="365760"/>
          </a:xfrm>
          <a:prstGeom prst="rect">
            <a:avLst/>
          </a:prstGeom>
          <a:noFill/>
        </p:spPr>
        <p:txBody>
          <a:bodyPr wrap="square" anchor="t">
            <a:spAutoFit/>
          </a:bodyPr>
          <a:lstStyle/>
          <a:p>
            <a:pPr algn="l"/>
            <a:r>
              <a:rPr sz="1700" b="1">
                <a:solidFill>
                  <a:srgbClr val="FFFFFF"/>
                </a:solidFill>
                <a:latin typeface="Aptos"/>
              </a:rPr>
              <a:t>User Authentication</a:t>
            </a:r>
          </a:p>
        </p:txBody>
      </p:sp>
      <p:sp>
        <p:nvSpPr>
          <p:cNvPr id="12" name="TextBox 11"/>
          <p:cNvSpPr txBox="1"/>
          <p:nvPr/>
        </p:nvSpPr>
        <p:spPr>
          <a:xfrm>
            <a:off x="886968" y="2578608"/>
            <a:ext cx="2999232" cy="521208"/>
          </a:xfrm>
          <a:prstGeom prst="rect">
            <a:avLst/>
          </a:prstGeom>
          <a:noFill/>
        </p:spPr>
        <p:txBody>
          <a:bodyPr wrap="square" anchor="t">
            <a:spAutoFit/>
          </a:bodyPr>
          <a:lstStyle/>
          <a:p>
            <a:pPr algn="l"/>
            <a:r>
              <a:rPr sz="1150" b="0">
                <a:solidFill>
                  <a:srgbClr val="B2B9C2"/>
                </a:solidFill>
                <a:latin typeface="Aptos"/>
              </a:rPr>
              <a:t>Implement registration, login and logout functionality for users.</a:t>
            </a:r>
          </a:p>
        </p:txBody>
      </p:sp>
      <p:sp>
        <p:nvSpPr>
          <p:cNvPr id="13" name="Rounded Rectangle 12"/>
          <p:cNvSpPr/>
          <p:nvPr/>
        </p:nvSpPr>
        <p:spPr>
          <a:xfrm>
            <a:off x="4480559"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59" y="1572768"/>
            <a:ext cx="73152" cy="16642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59" y="1773936"/>
            <a:ext cx="502920" cy="274320"/>
          </a:xfrm>
          <a:prstGeom prst="rect">
            <a:avLst/>
          </a:prstGeom>
          <a:noFill/>
        </p:spPr>
        <p:txBody>
          <a:bodyPr wrap="square" anchor="t">
            <a:spAutoFit/>
          </a:bodyPr>
          <a:lstStyle/>
          <a:p>
            <a:pPr algn="l"/>
            <a:r>
              <a:rPr sz="1100" b="1">
                <a:solidFill>
                  <a:srgbClr val="F26C2D"/>
                </a:solidFill>
                <a:latin typeface="Aptos"/>
              </a:rPr>
              <a:t>02</a:t>
            </a:r>
          </a:p>
        </p:txBody>
      </p:sp>
      <p:sp>
        <p:nvSpPr>
          <p:cNvPr id="16" name="TextBox 15"/>
          <p:cNvSpPr txBox="1"/>
          <p:nvPr/>
        </p:nvSpPr>
        <p:spPr>
          <a:xfrm>
            <a:off x="4709159" y="2139696"/>
            <a:ext cx="2999232" cy="365760"/>
          </a:xfrm>
          <a:prstGeom prst="rect">
            <a:avLst/>
          </a:prstGeom>
          <a:noFill/>
        </p:spPr>
        <p:txBody>
          <a:bodyPr wrap="square" anchor="t">
            <a:spAutoFit/>
          </a:bodyPr>
          <a:lstStyle/>
          <a:p>
            <a:pPr algn="l"/>
            <a:r>
              <a:rPr sz="1700" b="1">
                <a:solidFill>
                  <a:srgbClr val="FFFFFF"/>
                </a:solidFill>
                <a:latin typeface="Aptos"/>
              </a:rPr>
              <a:t>Restaurant Management</a:t>
            </a:r>
          </a:p>
        </p:txBody>
      </p:sp>
      <p:sp>
        <p:nvSpPr>
          <p:cNvPr id="17" name="TextBox 16"/>
          <p:cNvSpPr txBox="1"/>
          <p:nvPr/>
        </p:nvSpPr>
        <p:spPr>
          <a:xfrm>
            <a:off x="4709159" y="2578608"/>
            <a:ext cx="2999232" cy="521208"/>
          </a:xfrm>
          <a:prstGeom prst="rect">
            <a:avLst/>
          </a:prstGeom>
          <a:noFill/>
        </p:spPr>
        <p:txBody>
          <a:bodyPr wrap="square" anchor="t">
            <a:spAutoFit/>
          </a:bodyPr>
          <a:lstStyle/>
          <a:p>
            <a:pPr algn="l"/>
            <a:r>
              <a:rPr sz="1150" b="0">
                <a:solidFill>
                  <a:srgbClr val="B2B9C2"/>
                </a:solidFill>
                <a:latin typeface="Aptos"/>
              </a:rPr>
              <a:t>Create, display and manage restaurant records.</a:t>
            </a:r>
          </a:p>
        </p:txBody>
      </p:sp>
      <p:sp>
        <p:nvSpPr>
          <p:cNvPr id="18" name="Rounded Rectangle 17"/>
          <p:cNvSpPr/>
          <p:nvPr/>
        </p:nvSpPr>
        <p:spPr>
          <a:xfrm>
            <a:off x="8302752"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02752" y="1572768"/>
            <a:ext cx="73152" cy="16642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773936"/>
            <a:ext cx="502920" cy="274320"/>
          </a:xfrm>
          <a:prstGeom prst="rect">
            <a:avLst/>
          </a:prstGeom>
          <a:noFill/>
        </p:spPr>
        <p:txBody>
          <a:bodyPr wrap="square" anchor="t">
            <a:spAutoFit/>
          </a:bodyPr>
          <a:lstStyle/>
          <a:p>
            <a:pPr algn="l"/>
            <a:r>
              <a:rPr sz="1100" b="1">
                <a:solidFill>
                  <a:srgbClr val="F26C2D"/>
                </a:solidFill>
                <a:latin typeface="Aptos"/>
              </a:rPr>
              <a:t>03</a:t>
            </a:r>
          </a:p>
        </p:txBody>
      </p:sp>
      <p:sp>
        <p:nvSpPr>
          <p:cNvPr id="21" name="TextBox 20"/>
          <p:cNvSpPr txBox="1"/>
          <p:nvPr/>
        </p:nvSpPr>
        <p:spPr>
          <a:xfrm>
            <a:off x="8531352" y="2139696"/>
            <a:ext cx="2999232" cy="365760"/>
          </a:xfrm>
          <a:prstGeom prst="rect">
            <a:avLst/>
          </a:prstGeom>
          <a:noFill/>
        </p:spPr>
        <p:txBody>
          <a:bodyPr wrap="square" anchor="t">
            <a:spAutoFit/>
          </a:bodyPr>
          <a:lstStyle/>
          <a:p>
            <a:pPr algn="l"/>
            <a:r>
              <a:rPr sz="1700" b="1">
                <a:solidFill>
                  <a:srgbClr val="FFFFFF"/>
                </a:solidFill>
                <a:latin typeface="Aptos"/>
              </a:rPr>
              <a:t>Food Management</a:t>
            </a:r>
          </a:p>
        </p:txBody>
      </p:sp>
      <p:sp>
        <p:nvSpPr>
          <p:cNvPr id="22" name="TextBox 21"/>
          <p:cNvSpPr txBox="1"/>
          <p:nvPr/>
        </p:nvSpPr>
        <p:spPr>
          <a:xfrm>
            <a:off x="8531352" y="2578608"/>
            <a:ext cx="2999232" cy="521208"/>
          </a:xfrm>
          <a:prstGeom prst="rect">
            <a:avLst/>
          </a:prstGeom>
          <a:noFill/>
        </p:spPr>
        <p:txBody>
          <a:bodyPr wrap="square" anchor="t">
            <a:spAutoFit/>
          </a:bodyPr>
          <a:lstStyle/>
          <a:p>
            <a:pPr algn="l"/>
            <a:r>
              <a:rPr sz="1150" b="0">
                <a:solidFill>
                  <a:srgbClr val="B2B9C2"/>
                </a:solidFill>
                <a:latin typeface="Aptos"/>
              </a:rPr>
              <a:t>Add and manage food items associated with restaurants.</a:t>
            </a:r>
          </a:p>
        </p:txBody>
      </p:sp>
      <p:sp>
        <p:nvSpPr>
          <p:cNvPr id="23" name="Rounded Rectangle 22"/>
          <p:cNvSpPr/>
          <p:nvPr/>
        </p:nvSpPr>
        <p:spPr>
          <a:xfrm>
            <a:off x="658368"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630168"/>
            <a:ext cx="73152" cy="16642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3831335"/>
            <a:ext cx="502920" cy="274320"/>
          </a:xfrm>
          <a:prstGeom prst="rect">
            <a:avLst/>
          </a:prstGeom>
          <a:noFill/>
        </p:spPr>
        <p:txBody>
          <a:bodyPr wrap="square" anchor="t">
            <a:spAutoFit/>
          </a:bodyPr>
          <a:lstStyle/>
          <a:p>
            <a:pPr algn="l"/>
            <a:r>
              <a:rPr sz="1100" b="1">
                <a:solidFill>
                  <a:srgbClr val="F26C2D"/>
                </a:solidFill>
                <a:latin typeface="Aptos"/>
              </a:rPr>
              <a:t>04</a:t>
            </a:r>
          </a:p>
        </p:txBody>
      </p:sp>
      <p:sp>
        <p:nvSpPr>
          <p:cNvPr id="26" name="TextBox 25"/>
          <p:cNvSpPr txBox="1"/>
          <p:nvPr/>
        </p:nvSpPr>
        <p:spPr>
          <a:xfrm>
            <a:off x="886968" y="4197096"/>
            <a:ext cx="2999232" cy="365760"/>
          </a:xfrm>
          <a:prstGeom prst="rect">
            <a:avLst/>
          </a:prstGeom>
          <a:noFill/>
        </p:spPr>
        <p:txBody>
          <a:bodyPr wrap="square" anchor="t">
            <a:spAutoFit/>
          </a:bodyPr>
          <a:lstStyle/>
          <a:p>
            <a:pPr algn="l"/>
            <a:r>
              <a:rPr sz="1700" b="1">
                <a:solidFill>
                  <a:srgbClr val="FFFFFF"/>
                </a:solidFill>
                <a:latin typeface="Aptos"/>
              </a:rPr>
              <a:t>Cart Management</a:t>
            </a:r>
          </a:p>
        </p:txBody>
      </p:sp>
      <p:sp>
        <p:nvSpPr>
          <p:cNvPr id="27" name="TextBox 26"/>
          <p:cNvSpPr txBox="1"/>
          <p:nvPr/>
        </p:nvSpPr>
        <p:spPr>
          <a:xfrm>
            <a:off x="886968" y="4636008"/>
            <a:ext cx="2999232" cy="521208"/>
          </a:xfrm>
          <a:prstGeom prst="rect">
            <a:avLst/>
          </a:prstGeom>
          <a:noFill/>
        </p:spPr>
        <p:txBody>
          <a:bodyPr wrap="square" anchor="t">
            <a:spAutoFit/>
          </a:bodyPr>
          <a:lstStyle/>
          <a:p>
            <a:pPr algn="l"/>
            <a:r>
              <a:rPr sz="1150" b="0">
                <a:solidFill>
                  <a:srgbClr val="B2B9C2"/>
                </a:solidFill>
                <a:latin typeface="Aptos"/>
              </a:rPr>
              <a:t>Allow users to select and manage food items in a cart.</a:t>
            </a:r>
          </a:p>
        </p:txBody>
      </p:sp>
      <p:sp>
        <p:nvSpPr>
          <p:cNvPr id="28" name="Rounded Rectangle 27"/>
          <p:cNvSpPr/>
          <p:nvPr/>
        </p:nvSpPr>
        <p:spPr>
          <a:xfrm>
            <a:off x="4480559"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59" y="3630168"/>
            <a:ext cx="73152" cy="1664208"/>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59" y="3831335"/>
            <a:ext cx="502920" cy="274320"/>
          </a:xfrm>
          <a:prstGeom prst="rect">
            <a:avLst/>
          </a:prstGeom>
          <a:noFill/>
        </p:spPr>
        <p:txBody>
          <a:bodyPr wrap="square" anchor="t">
            <a:spAutoFit/>
          </a:bodyPr>
          <a:lstStyle/>
          <a:p>
            <a:pPr algn="l"/>
            <a:r>
              <a:rPr sz="1100" b="1">
                <a:solidFill>
                  <a:srgbClr val="FF924C"/>
                </a:solidFill>
                <a:latin typeface="Aptos"/>
              </a:rPr>
              <a:t>05</a:t>
            </a:r>
          </a:p>
        </p:txBody>
      </p:sp>
      <p:sp>
        <p:nvSpPr>
          <p:cNvPr id="31" name="TextBox 30"/>
          <p:cNvSpPr txBox="1"/>
          <p:nvPr/>
        </p:nvSpPr>
        <p:spPr>
          <a:xfrm>
            <a:off x="4709159" y="4197096"/>
            <a:ext cx="2999232" cy="365760"/>
          </a:xfrm>
          <a:prstGeom prst="rect">
            <a:avLst/>
          </a:prstGeom>
          <a:noFill/>
        </p:spPr>
        <p:txBody>
          <a:bodyPr wrap="square" anchor="t">
            <a:spAutoFit/>
          </a:bodyPr>
          <a:lstStyle/>
          <a:p>
            <a:pPr algn="l"/>
            <a:r>
              <a:rPr sz="1700" b="1">
                <a:solidFill>
                  <a:srgbClr val="FFFFFF"/>
                </a:solidFill>
                <a:latin typeface="Aptos"/>
              </a:rPr>
              <a:t>Database Management</a:t>
            </a:r>
          </a:p>
        </p:txBody>
      </p:sp>
      <p:sp>
        <p:nvSpPr>
          <p:cNvPr id="32" name="TextBox 31"/>
          <p:cNvSpPr txBox="1"/>
          <p:nvPr/>
        </p:nvSpPr>
        <p:spPr>
          <a:xfrm>
            <a:off x="4709159" y="4636008"/>
            <a:ext cx="2999232" cy="521208"/>
          </a:xfrm>
          <a:prstGeom prst="rect">
            <a:avLst/>
          </a:prstGeom>
          <a:noFill/>
        </p:spPr>
        <p:txBody>
          <a:bodyPr wrap="square" anchor="t">
            <a:spAutoFit/>
          </a:bodyPr>
          <a:lstStyle/>
          <a:p>
            <a:pPr algn="l"/>
            <a:r>
              <a:rPr sz="1150" b="0">
                <a:solidFill>
                  <a:srgbClr val="B2B9C2"/>
                </a:solidFill>
                <a:latin typeface="Aptos"/>
              </a:rPr>
              <a:t>Store project information reliably using PostgreSQL.</a:t>
            </a:r>
          </a:p>
        </p:txBody>
      </p:sp>
      <p:sp>
        <p:nvSpPr>
          <p:cNvPr id="33" name="Rounded Rectangle 32"/>
          <p:cNvSpPr/>
          <p:nvPr/>
        </p:nvSpPr>
        <p:spPr>
          <a:xfrm>
            <a:off x="8302752"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02752" y="3630168"/>
            <a:ext cx="73152" cy="16642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31352" y="3831335"/>
            <a:ext cx="502920" cy="274320"/>
          </a:xfrm>
          <a:prstGeom prst="rect">
            <a:avLst/>
          </a:prstGeom>
          <a:noFill/>
        </p:spPr>
        <p:txBody>
          <a:bodyPr wrap="square" anchor="t">
            <a:spAutoFit/>
          </a:bodyPr>
          <a:lstStyle/>
          <a:p>
            <a:pPr algn="l"/>
            <a:r>
              <a:rPr sz="1100" b="1">
                <a:solidFill>
                  <a:srgbClr val="F26C2D"/>
                </a:solidFill>
                <a:latin typeface="Aptos"/>
              </a:rPr>
              <a:t>06</a:t>
            </a:r>
          </a:p>
        </p:txBody>
      </p:sp>
      <p:sp>
        <p:nvSpPr>
          <p:cNvPr id="36" name="TextBox 35"/>
          <p:cNvSpPr txBox="1"/>
          <p:nvPr/>
        </p:nvSpPr>
        <p:spPr>
          <a:xfrm>
            <a:off x="8531352" y="4197096"/>
            <a:ext cx="2999232" cy="365760"/>
          </a:xfrm>
          <a:prstGeom prst="rect">
            <a:avLst/>
          </a:prstGeom>
          <a:noFill/>
        </p:spPr>
        <p:txBody>
          <a:bodyPr wrap="square" anchor="t">
            <a:spAutoFit/>
          </a:bodyPr>
          <a:lstStyle/>
          <a:p>
            <a:pPr algn="l"/>
            <a:r>
              <a:rPr sz="1700" b="1">
                <a:solidFill>
                  <a:srgbClr val="FFFFFF"/>
                </a:solidFill>
                <a:latin typeface="Aptos"/>
              </a:rPr>
              <a:t>CRUD Operations</a:t>
            </a:r>
          </a:p>
        </p:txBody>
      </p:sp>
      <p:sp>
        <p:nvSpPr>
          <p:cNvPr id="37" name="TextBox 36"/>
          <p:cNvSpPr txBox="1"/>
          <p:nvPr/>
        </p:nvSpPr>
        <p:spPr>
          <a:xfrm>
            <a:off x="8531352" y="4636008"/>
            <a:ext cx="2999232" cy="521208"/>
          </a:xfrm>
          <a:prstGeom prst="rect">
            <a:avLst/>
          </a:prstGeom>
          <a:noFill/>
        </p:spPr>
        <p:txBody>
          <a:bodyPr wrap="square" anchor="t">
            <a:spAutoFit/>
          </a:bodyPr>
          <a:lstStyle/>
          <a:p>
            <a:pPr algn="l"/>
            <a:r>
              <a:rPr sz="1150" b="0">
                <a:solidFill>
                  <a:srgbClr val="B2B9C2"/>
                </a:solidFill>
                <a:latin typeface="Aptos"/>
              </a:rPr>
              <a:t>Demonstrate Create, Read, Update and Delete operations.</a:t>
            </a:r>
          </a:p>
        </p:txBody>
      </p:sp>
      <p:sp>
        <p:nvSpPr>
          <p:cNvPr id="38" name="Rectangle 37"/>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03 • IMPLEMENTATION</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Technology Stack</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04</a:t>
            </a:r>
          </a:p>
        </p:txBody>
      </p:sp>
      <p:sp>
        <p:nvSpPr>
          <p:cNvPr id="8" name="Rounded Rectangle 7"/>
          <p:cNvSpPr/>
          <p:nvPr/>
        </p:nvSpPr>
        <p:spPr>
          <a:xfrm>
            <a:off x="658368"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865376"/>
            <a:ext cx="2926080" cy="320040"/>
          </a:xfrm>
          <a:prstGeom prst="rect">
            <a:avLst/>
          </a:prstGeom>
          <a:noFill/>
        </p:spPr>
        <p:txBody>
          <a:bodyPr wrap="square" anchor="t">
            <a:spAutoFit/>
          </a:bodyPr>
          <a:lstStyle/>
          <a:p>
            <a:pPr algn="l"/>
            <a:r>
              <a:rPr sz="1600" b="1">
                <a:solidFill>
                  <a:srgbClr val="FFFFFF"/>
                </a:solidFill>
                <a:latin typeface="Aptos"/>
              </a:rPr>
              <a:t>PYTHON</a:t>
            </a:r>
          </a:p>
        </p:txBody>
      </p:sp>
      <p:sp>
        <p:nvSpPr>
          <p:cNvPr id="11" name="TextBox 10"/>
          <p:cNvSpPr txBox="1"/>
          <p:nvPr/>
        </p:nvSpPr>
        <p:spPr>
          <a:xfrm>
            <a:off x="886968" y="2322576"/>
            <a:ext cx="2971800" cy="658368"/>
          </a:xfrm>
          <a:prstGeom prst="rect">
            <a:avLst/>
          </a:prstGeom>
          <a:noFill/>
        </p:spPr>
        <p:txBody>
          <a:bodyPr wrap="square" anchor="t">
            <a:spAutoFit/>
          </a:bodyPr>
          <a:lstStyle/>
          <a:p>
            <a:pPr algn="l"/>
            <a:r>
              <a:rPr sz="1150" b="0">
                <a:solidFill>
                  <a:srgbClr val="B2B9C2"/>
                </a:solidFill>
                <a:latin typeface="Aptos"/>
              </a:rPr>
              <a:t>Core programming language used for application development.</a:t>
            </a:r>
          </a:p>
        </p:txBody>
      </p:sp>
      <p:sp>
        <p:nvSpPr>
          <p:cNvPr id="12" name="Rounded Rectangle 11"/>
          <p:cNvSpPr/>
          <p:nvPr/>
        </p:nvSpPr>
        <p:spPr>
          <a:xfrm>
            <a:off x="4480559"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59" y="1865376"/>
            <a:ext cx="2926080" cy="320040"/>
          </a:xfrm>
          <a:prstGeom prst="rect">
            <a:avLst/>
          </a:prstGeom>
          <a:noFill/>
        </p:spPr>
        <p:txBody>
          <a:bodyPr wrap="square" anchor="t">
            <a:spAutoFit/>
          </a:bodyPr>
          <a:lstStyle/>
          <a:p>
            <a:pPr algn="l"/>
            <a:r>
              <a:rPr sz="1600" b="1">
                <a:solidFill>
                  <a:srgbClr val="FFFFFF"/>
                </a:solidFill>
                <a:latin typeface="Aptos"/>
              </a:rPr>
              <a:t>DJANGO</a:t>
            </a:r>
          </a:p>
        </p:txBody>
      </p:sp>
      <p:sp>
        <p:nvSpPr>
          <p:cNvPr id="15" name="TextBox 14"/>
          <p:cNvSpPr txBox="1"/>
          <p:nvPr/>
        </p:nvSpPr>
        <p:spPr>
          <a:xfrm>
            <a:off x="4709159" y="2322576"/>
            <a:ext cx="2971800" cy="658368"/>
          </a:xfrm>
          <a:prstGeom prst="rect">
            <a:avLst/>
          </a:prstGeom>
          <a:noFill/>
        </p:spPr>
        <p:txBody>
          <a:bodyPr wrap="square" anchor="t">
            <a:spAutoFit/>
          </a:bodyPr>
          <a:lstStyle/>
          <a:p>
            <a:pPr algn="l"/>
            <a:r>
              <a:rPr sz="1150" b="0">
                <a:solidFill>
                  <a:srgbClr val="B2B9C2"/>
                </a:solidFill>
                <a:latin typeface="Aptos"/>
              </a:rPr>
              <a:t>Web framework used for URLs, views, templates, authentication and ORM.</a:t>
            </a:r>
          </a:p>
        </p:txBody>
      </p:sp>
      <p:sp>
        <p:nvSpPr>
          <p:cNvPr id="16" name="Rounded Rectangle 15"/>
          <p:cNvSpPr/>
          <p:nvPr/>
        </p:nvSpPr>
        <p:spPr>
          <a:xfrm>
            <a:off x="8302752" y="15727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2752"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1352" y="1865376"/>
            <a:ext cx="2926080" cy="320040"/>
          </a:xfrm>
          <a:prstGeom prst="rect">
            <a:avLst/>
          </a:prstGeom>
          <a:noFill/>
        </p:spPr>
        <p:txBody>
          <a:bodyPr wrap="square" anchor="t">
            <a:spAutoFit/>
          </a:bodyPr>
          <a:lstStyle/>
          <a:p>
            <a:pPr algn="l"/>
            <a:r>
              <a:rPr sz="1600" b="1">
                <a:solidFill>
                  <a:srgbClr val="FFFFFF"/>
                </a:solidFill>
                <a:latin typeface="Aptos"/>
              </a:rPr>
              <a:t>POSTGRESQL</a:t>
            </a:r>
          </a:p>
        </p:txBody>
      </p:sp>
      <p:sp>
        <p:nvSpPr>
          <p:cNvPr id="19" name="TextBox 18"/>
          <p:cNvSpPr txBox="1"/>
          <p:nvPr/>
        </p:nvSpPr>
        <p:spPr>
          <a:xfrm>
            <a:off x="8531352" y="2322576"/>
            <a:ext cx="2971800" cy="658368"/>
          </a:xfrm>
          <a:prstGeom prst="rect">
            <a:avLst/>
          </a:prstGeom>
          <a:noFill/>
        </p:spPr>
        <p:txBody>
          <a:bodyPr wrap="square" anchor="t">
            <a:spAutoFit/>
          </a:bodyPr>
          <a:lstStyle/>
          <a:p>
            <a:pPr algn="l"/>
            <a:r>
              <a:rPr sz="1150" b="0">
                <a:solidFill>
                  <a:srgbClr val="B2B9C2"/>
                </a:solidFill>
                <a:latin typeface="Aptos"/>
              </a:rPr>
              <a:t>Relational database used for persistent project data.</a:t>
            </a:r>
          </a:p>
        </p:txBody>
      </p:sp>
      <p:sp>
        <p:nvSpPr>
          <p:cNvPr id="20" name="Rounded Rectangle 19"/>
          <p:cNvSpPr/>
          <p:nvPr/>
        </p:nvSpPr>
        <p:spPr>
          <a:xfrm>
            <a:off x="658368"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6301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922776"/>
            <a:ext cx="2926080" cy="320040"/>
          </a:xfrm>
          <a:prstGeom prst="rect">
            <a:avLst/>
          </a:prstGeom>
          <a:noFill/>
        </p:spPr>
        <p:txBody>
          <a:bodyPr wrap="square" anchor="t">
            <a:spAutoFit/>
          </a:bodyPr>
          <a:lstStyle/>
          <a:p>
            <a:pPr algn="l"/>
            <a:r>
              <a:rPr sz="1600" b="1">
                <a:solidFill>
                  <a:srgbClr val="FFFFFF"/>
                </a:solidFill>
                <a:latin typeface="Aptos"/>
              </a:rPr>
              <a:t>PSYCOPG</a:t>
            </a:r>
          </a:p>
        </p:txBody>
      </p:sp>
      <p:sp>
        <p:nvSpPr>
          <p:cNvPr id="23" name="TextBox 22"/>
          <p:cNvSpPr txBox="1"/>
          <p:nvPr/>
        </p:nvSpPr>
        <p:spPr>
          <a:xfrm>
            <a:off x="886968" y="4379976"/>
            <a:ext cx="2971800" cy="658368"/>
          </a:xfrm>
          <a:prstGeom prst="rect">
            <a:avLst/>
          </a:prstGeom>
          <a:noFill/>
        </p:spPr>
        <p:txBody>
          <a:bodyPr wrap="square" anchor="t">
            <a:spAutoFit/>
          </a:bodyPr>
          <a:lstStyle/>
          <a:p>
            <a:pPr algn="l"/>
            <a:r>
              <a:rPr sz="1150" b="0">
                <a:solidFill>
                  <a:srgbClr val="B2B9C2"/>
                </a:solidFill>
                <a:latin typeface="Aptos"/>
              </a:rPr>
              <a:t>PostgreSQL adapter that allows Django to communicate with the database.</a:t>
            </a:r>
          </a:p>
        </p:txBody>
      </p:sp>
      <p:sp>
        <p:nvSpPr>
          <p:cNvPr id="24" name="Rounded Rectangle 23"/>
          <p:cNvSpPr/>
          <p:nvPr/>
        </p:nvSpPr>
        <p:spPr>
          <a:xfrm>
            <a:off x="4480559"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59" y="3630168"/>
            <a:ext cx="3456432" cy="91440"/>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59" y="3922776"/>
            <a:ext cx="2926080" cy="320040"/>
          </a:xfrm>
          <a:prstGeom prst="rect">
            <a:avLst/>
          </a:prstGeom>
          <a:noFill/>
        </p:spPr>
        <p:txBody>
          <a:bodyPr wrap="square" anchor="t">
            <a:spAutoFit/>
          </a:bodyPr>
          <a:lstStyle/>
          <a:p>
            <a:pPr algn="l"/>
            <a:r>
              <a:rPr sz="1600" b="1">
                <a:solidFill>
                  <a:srgbClr val="FFFFFF"/>
                </a:solidFill>
                <a:latin typeface="Aptos"/>
              </a:rPr>
              <a:t>HTML / CSS</a:t>
            </a:r>
          </a:p>
        </p:txBody>
      </p:sp>
      <p:sp>
        <p:nvSpPr>
          <p:cNvPr id="27" name="TextBox 26"/>
          <p:cNvSpPr txBox="1"/>
          <p:nvPr/>
        </p:nvSpPr>
        <p:spPr>
          <a:xfrm>
            <a:off x="4709159" y="4379976"/>
            <a:ext cx="2971800" cy="658368"/>
          </a:xfrm>
          <a:prstGeom prst="rect">
            <a:avLst/>
          </a:prstGeom>
          <a:noFill/>
        </p:spPr>
        <p:txBody>
          <a:bodyPr wrap="square" anchor="t">
            <a:spAutoFit/>
          </a:bodyPr>
          <a:lstStyle/>
          <a:p>
            <a:pPr algn="l"/>
            <a:r>
              <a:rPr sz="1150" b="0">
                <a:solidFill>
                  <a:srgbClr val="B2B9C2"/>
                </a:solidFill>
                <a:latin typeface="Aptos"/>
              </a:rPr>
              <a:t>Used to build and style the FoodGo web interface.</a:t>
            </a:r>
          </a:p>
        </p:txBody>
      </p:sp>
      <p:sp>
        <p:nvSpPr>
          <p:cNvPr id="28" name="Rounded Rectangle 27"/>
          <p:cNvSpPr/>
          <p:nvPr/>
        </p:nvSpPr>
        <p:spPr>
          <a:xfrm>
            <a:off x="8302752" y="3630168"/>
            <a:ext cx="3456432" cy="166420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02752" y="36301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922776"/>
            <a:ext cx="2926080" cy="320040"/>
          </a:xfrm>
          <a:prstGeom prst="rect">
            <a:avLst/>
          </a:prstGeom>
          <a:noFill/>
        </p:spPr>
        <p:txBody>
          <a:bodyPr wrap="square" anchor="t">
            <a:spAutoFit/>
          </a:bodyPr>
          <a:lstStyle/>
          <a:p>
            <a:pPr algn="l"/>
            <a:r>
              <a:rPr sz="1600" b="1">
                <a:solidFill>
                  <a:srgbClr val="FFFFFF"/>
                </a:solidFill>
                <a:latin typeface="Aptos"/>
              </a:rPr>
              <a:t>DJANGO ORM</a:t>
            </a:r>
          </a:p>
        </p:txBody>
      </p:sp>
      <p:sp>
        <p:nvSpPr>
          <p:cNvPr id="31" name="TextBox 30"/>
          <p:cNvSpPr txBox="1"/>
          <p:nvPr/>
        </p:nvSpPr>
        <p:spPr>
          <a:xfrm>
            <a:off x="8531352" y="4379976"/>
            <a:ext cx="2971800" cy="658368"/>
          </a:xfrm>
          <a:prstGeom prst="rect">
            <a:avLst/>
          </a:prstGeom>
          <a:noFill/>
        </p:spPr>
        <p:txBody>
          <a:bodyPr wrap="square" anchor="t">
            <a:spAutoFit/>
          </a:bodyPr>
          <a:lstStyle/>
          <a:p>
            <a:pPr algn="l"/>
            <a:r>
              <a:rPr sz="1150" b="0">
                <a:solidFill>
                  <a:srgbClr val="B2B9C2"/>
                </a:solidFill>
                <a:latin typeface="Aptos"/>
              </a:rPr>
              <a:t>Maps Python models to database tables and simplifies database operations.</a:t>
            </a:r>
          </a:p>
        </p:txBody>
      </p:sp>
      <p:sp>
        <p:nvSpPr>
          <p:cNvPr id="32" name="Rectangle 31"/>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04 • SYSTEM DESIGN</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System Architecture</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05</a:t>
            </a:r>
          </a:p>
        </p:txBody>
      </p:sp>
      <p:sp>
        <p:nvSpPr>
          <p:cNvPr id="8" name="Rounded Rectangle 7"/>
          <p:cNvSpPr/>
          <p:nvPr/>
        </p:nvSpPr>
        <p:spPr>
          <a:xfrm>
            <a:off x="658368" y="1874519"/>
            <a:ext cx="2057400" cy="132588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874519"/>
            <a:ext cx="2057400"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212848"/>
            <a:ext cx="1783080" cy="292608"/>
          </a:xfrm>
          <a:prstGeom prst="rect">
            <a:avLst/>
          </a:prstGeom>
          <a:noFill/>
        </p:spPr>
        <p:txBody>
          <a:bodyPr wrap="square" anchor="t">
            <a:spAutoFit/>
          </a:bodyPr>
          <a:lstStyle/>
          <a:p>
            <a:pPr algn="ctr"/>
            <a:r>
              <a:rPr sz="1600" b="1">
                <a:solidFill>
                  <a:srgbClr val="FFFFFF"/>
                </a:solidFill>
                <a:latin typeface="Aptos"/>
              </a:rPr>
              <a:t>USER</a:t>
            </a:r>
          </a:p>
        </p:txBody>
      </p:sp>
      <p:sp>
        <p:nvSpPr>
          <p:cNvPr id="11" name="TextBox 10"/>
          <p:cNvSpPr txBox="1"/>
          <p:nvPr/>
        </p:nvSpPr>
        <p:spPr>
          <a:xfrm>
            <a:off x="822959" y="2670048"/>
            <a:ext cx="1719072" cy="411480"/>
          </a:xfrm>
          <a:prstGeom prst="rect">
            <a:avLst/>
          </a:prstGeom>
          <a:noFill/>
        </p:spPr>
        <p:txBody>
          <a:bodyPr wrap="square" anchor="t">
            <a:spAutoFit/>
          </a:bodyPr>
          <a:lstStyle/>
          <a:p>
            <a:pPr algn="ctr"/>
            <a:r>
              <a:rPr sz="1050" b="0">
                <a:solidFill>
                  <a:srgbClr val="B2B9C2"/>
                </a:solidFill>
                <a:latin typeface="Aptos"/>
              </a:rPr>
              <a:t>Browser / User Interface</a:t>
            </a:r>
          </a:p>
        </p:txBody>
      </p:sp>
      <p:sp>
        <p:nvSpPr>
          <p:cNvPr id="12" name="Chevron 11"/>
          <p:cNvSpPr/>
          <p:nvPr/>
        </p:nvSpPr>
        <p:spPr>
          <a:xfrm>
            <a:off x="2816352" y="2322576"/>
            <a:ext cx="384048" cy="384048"/>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154680" y="1874519"/>
            <a:ext cx="2057400" cy="132588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54680" y="1874519"/>
            <a:ext cx="2057400"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2212848"/>
            <a:ext cx="1783080" cy="292608"/>
          </a:xfrm>
          <a:prstGeom prst="rect">
            <a:avLst/>
          </a:prstGeom>
          <a:noFill/>
        </p:spPr>
        <p:txBody>
          <a:bodyPr wrap="square" anchor="t">
            <a:spAutoFit/>
          </a:bodyPr>
          <a:lstStyle/>
          <a:p>
            <a:pPr algn="ctr"/>
            <a:r>
              <a:rPr sz="1600" b="1">
                <a:solidFill>
                  <a:srgbClr val="FFFFFF"/>
                </a:solidFill>
                <a:latin typeface="Aptos"/>
              </a:rPr>
              <a:t>DJANGO</a:t>
            </a:r>
          </a:p>
        </p:txBody>
      </p:sp>
      <p:sp>
        <p:nvSpPr>
          <p:cNvPr id="16" name="TextBox 15"/>
          <p:cNvSpPr txBox="1"/>
          <p:nvPr/>
        </p:nvSpPr>
        <p:spPr>
          <a:xfrm>
            <a:off x="3319272" y="2670048"/>
            <a:ext cx="1719072" cy="411480"/>
          </a:xfrm>
          <a:prstGeom prst="rect">
            <a:avLst/>
          </a:prstGeom>
          <a:noFill/>
        </p:spPr>
        <p:txBody>
          <a:bodyPr wrap="square" anchor="t">
            <a:spAutoFit/>
          </a:bodyPr>
          <a:lstStyle/>
          <a:p>
            <a:pPr algn="ctr"/>
            <a:r>
              <a:rPr sz="1050" b="0">
                <a:solidFill>
                  <a:srgbClr val="B2B9C2"/>
                </a:solidFill>
                <a:latin typeface="Aptos"/>
              </a:rPr>
              <a:t>Views + URLs + Templates</a:t>
            </a:r>
          </a:p>
        </p:txBody>
      </p:sp>
      <p:sp>
        <p:nvSpPr>
          <p:cNvPr id="17" name="Chevron 16"/>
          <p:cNvSpPr/>
          <p:nvPr/>
        </p:nvSpPr>
        <p:spPr>
          <a:xfrm>
            <a:off x="5312664" y="2322576"/>
            <a:ext cx="384048" cy="384048"/>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50992" y="1874519"/>
            <a:ext cx="2057400" cy="132588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50992" y="1874519"/>
            <a:ext cx="2057400"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88152" y="2212848"/>
            <a:ext cx="1783080" cy="292608"/>
          </a:xfrm>
          <a:prstGeom prst="rect">
            <a:avLst/>
          </a:prstGeom>
          <a:noFill/>
        </p:spPr>
        <p:txBody>
          <a:bodyPr wrap="square" anchor="t">
            <a:spAutoFit/>
          </a:bodyPr>
          <a:lstStyle/>
          <a:p>
            <a:pPr algn="ctr"/>
            <a:r>
              <a:rPr sz="1600" b="1">
                <a:solidFill>
                  <a:srgbClr val="FFFFFF"/>
                </a:solidFill>
                <a:latin typeface="Aptos"/>
              </a:rPr>
              <a:t>ORM</a:t>
            </a:r>
          </a:p>
        </p:txBody>
      </p:sp>
      <p:sp>
        <p:nvSpPr>
          <p:cNvPr id="21" name="TextBox 20"/>
          <p:cNvSpPr txBox="1"/>
          <p:nvPr/>
        </p:nvSpPr>
        <p:spPr>
          <a:xfrm>
            <a:off x="5815583" y="2670048"/>
            <a:ext cx="1719072" cy="411480"/>
          </a:xfrm>
          <a:prstGeom prst="rect">
            <a:avLst/>
          </a:prstGeom>
          <a:noFill/>
        </p:spPr>
        <p:txBody>
          <a:bodyPr wrap="square" anchor="t">
            <a:spAutoFit/>
          </a:bodyPr>
          <a:lstStyle/>
          <a:p>
            <a:pPr algn="ctr"/>
            <a:r>
              <a:rPr sz="1050" b="0">
                <a:solidFill>
                  <a:srgbClr val="B2B9C2"/>
                </a:solidFill>
                <a:latin typeface="Aptos"/>
              </a:rPr>
              <a:t>Django Models / ORM</a:t>
            </a:r>
          </a:p>
        </p:txBody>
      </p:sp>
      <p:sp>
        <p:nvSpPr>
          <p:cNvPr id="22" name="Chevron 21"/>
          <p:cNvSpPr/>
          <p:nvPr/>
        </p:nvSpPr>
        <p:spPr>
          <a:xfrm>
            <a:off x="7808975" y="2322576"/>
            <a:ext cx="384048" cy="384048"/>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47304" y="1874519"/>
            <a:ext cx="2057400" cy="132588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47304" y="1874519"/>
            <a:ext cx="2057400"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4464" y="2212848"/>
            <a:ext cx="1783080" cy="292608"/>
          </a:xfrm>
          <a:prstGeom prst="rect">
            <a:avLst/>
          </a:prstGeom>
          <a:noFill/>
        </p:spPr>
        <p:txBody>
          <a:bodyPr wrap="square" anchor="t">
            <a:spAutoFit/>
          </a:bodyPr>
          <a:lstStyle/>
          <a:p>
            <a:pPr algn="ctr"/>
            <a:r>
              <a:rPr sz="1600" b="1">
                <a:solidFill>
                  <a:srgbClr val="FFFFFF"/>
                </a:solidFill>
                <a:latin typeface="Aptos"/>
              </a:rPr>
              <a:t>POSTGRESQL</a:t>
            </a:r>
          </a:p>
        </p:txBody>
      </p:sp>
      <p:sp>
        <p:nvSpPr>
          <p:cNvPr id="26" name="TextBox 25"/>
          <p:cNvSpPr txBox="1"/>
          <p:nvPr/>
        </p:nvSpPr>
        <p:spPr>
          <a:xfrm>
            <a:off x="8311896" y="2670048"/>
            <a:ext cx="1719072" cy="411480"/>
          </a:xfrm>
          <a:prstGeom prst="rect">
            <a:avLst/>
          </a:prstGeom>
          <a:noFill/>
        </p:spPr>
        <p:txBody>
          <a:bodyPr wrap="square" anchor="t">
            <a:spAutoFit/>
          </a:bodyPr>
          <a:lstStyle/>
          <a:p>
            <a:pPr algn="ctr"/>
            <a:r>
              <a:rPr sz="1050" b="0">
                <a:solidFill>
                  <a:srgbClr val="B2B9C2"/>
                </a:solidFill>
                <a:latin typeface="Aptos"/>
              </a:rPr>
              <a:t>Database Tables</a:t>
            </a:r>
          </a:p>
        </p:txBody>
      </p:sp>
      <p:sp>
        <p:nvSpPr>
          <p:cNvPr id="27" name="TextBox 26"/>
          <p:cNvSpPr txBox="1"/>
          <p:nvPr/>
        </p:nvSpPr>
        <p:spPr>
          <a:xfrm>
            <a:off x="713232" y="3794760"/>
            <a:ext cx="2926080" cy="365760"/>
          </a:xfrm>
          <a:prstGeom prst="rect">
            <a:avLst/>
          </a:prstGeom>
          <a:noFill/>
        </p:spPr>
        <p:txBody>
          <a:bodyPr wrap="square" anchor="t">
            <a:spAutoFit/>
          </a:bodyPr>
          <a:lstStyle/>
          <a:p>
            <a:pPr algn="l"/>
            <a:r>
              <a:rPr sz="1900" b="1">
                <a:solidFill>
                  <a:srgbClr val="FFFFFF"/>
                </a:solidFill>
                <a:latin typeface="Aptos"/>
              </a:rPr>
              <a:t>How the system works</a:t>
            </a:r>
          </a:p>
        </p:txBody>
      </p:sp>
      <p:sp>
        <p:nvSpPr>
          <p:cNvPr id="28" name="Rectangle 27"/>
          <p:cNvSpPr/>
          <p:nvPr/>
        </p:nvSpPr>
        <p:spPr>
          <a:xfrm>
            <a:off x="713232" y="4315968"/>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4297680"/>
            <a:ext cx="4937760" cy="256032"/>
          </a:xfrm>
          <a:prstGeom prst="rect">
            <a:avLst/>
          </a:prstGeom>
          <a:noFill/>
        </p:spPr>
        <p:txBody>
          <a:bodyPr wrap="square" anchor="t">
            <a:spAutoFit/>
          </a:bodyPr>
          <a:lstStyle/>
          <a:p>
            <a:pPr algn="l"/>
            <a:r>
              <a:rPr sz="1500" b="1">
                <a:solidFill>
                  <a:srgbClr val="FFFFFF"/>
                </a:solidFill>
                <a:latin typeface="Aptos"/>
              </a:rPr>
              <a:t>1. Request</a:t>
            </a:r>
          </a:p>
        </p:txBody>
      </p:sp>
      <p:sp>
        <p:nvSpPr>
          <p:cNvPr id="30" name="TextBox 29"/>
          <p:cNvSpPr txBox="1"/>
          <p:nvPr/>
        </p:nvSpPr>
        <p:spPr>
          <a:xfrm>
            <a:off x="941832" y="4590288"/>
            <a:ext cx="4937760" cy="411480"/>
          </a:xfrm>
          <a:prstGeom prst="rect">
            <a:avLst/>
          </a:prstGeom>
          <a:noFill/>
        </p:spPr>
        <p:txBody>
          <a:bodyPr wrap="square" anchor="t">
            <a:spAutoFit/>
          </a:bodyPr>
          <a:lstStyle/>
          <a:p>
            <a:pPr algn="l"/>
            <a:r>
              <a:rPr sz="1150" b="0">
                <a:solidFill>
                  <a:srgbClr val="B2B9C2"/>
                </a:solidFill>
                <a:latin typeface="Aptos"/>
              </a:rPr>
              <a:t>The user interacts with FoodGo through the web browser.</a:t>
            </a:r>
          </a:p>
        </p:txBody>
      </p:sp>
      <p:sp>
        <p:nvSpPr>
          <p:cNvPr id="31" name="Rectangle 30"/>
          <p:cNvSpPr/>
          <p:nvPr/>
        </p:nvSpPr>
        <p:spPr>
          <a:xfrm>
            <a:off x="6172200" y="4315968"/>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4297680"/>
            <a:ext cx="4937760" cy="256032"/>
          </a:xfrm>
          <a:prstGeom prst="rect">
            <a:avLst/>
          </a:prstGeom>
          <a:noFill/>
        </p:spPr>
        <p:txBody>
          <a:bodyPr wrap="square" anchor="t">
            <a:spAutoFit/>
          </a:bodyPr>
          <a:lstStyle/>
          <a:p>
            <a:pPr algn="l"/>
            <a:r>
              <a:rPr sz="1500" b="1">
                <a:solidFill>
                  <a:srgbClr val="FFFFFF"/>
                </a:solidFill>
                <a:latin typeface="Aptos"/>
              </a:rPr>
              <a:t>2. Processing</a:t>
            </a:r>
          </a:p>
        </p:txBody>
      </p:sp>
      <p:sp>
        <p:nvSpPr>
          <p:cNvPr id="33" name="TextBox 32"/>
          <p:cNvSpPr txBox="1"/>
          <p:nvPr/>
        </p:nvSpPr>
        <p:spPr>
          <a:xfrm>
            <a:off x="6400800" y="4590288"/>
            <a:ext cx="4937760" cy="411480"/>
          </a:xfrm>
          <a:prstGeom prst="rect">
            <a:avLst/>
          </a:prstGeom>
          <a:noFill/>
        </p:spPr>
        <p:txBody>
          <a:bodyPr wrap="square" anchor="t">
            <a:spAutoFit/>
          </a:bodyPr>
          <a:lstStyle/>
          <a:p>
            <a:pPr algn="l"/>
            <a:r>
              <a:rPr sz="1150" b="0">
                <a:solidFill>
                  <a:srgbClr val="B2B9C2"/>
                </a:solidFill>
                <a:latin typeface="Aptos"/>
              </a:rPr>
              <a:t>Django receives the request and executes the required application logic.</a:t>
            </a:r>
          </a:p>
        </p:txBody>
      </p:sp>
      <p:sp>
        <p:nvSpPr>
          <p:cNvPr id="34" name="Rectangle 33"/>
          <p:cNvSpPr/>
          <p:nvPr/>
        </p:nvSpPr>
        <p:spPr>
          <a:xfrm>
            <a:off x="713232" y="5230368"/>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5212080"/>
            <a:ext cx="4937760" cy="256032"/>
          </a:xfrm>
          <a:prstGeom prst="rect">
            <a:avLst/>
          </a:prstGeom>
          <a:noFill/>
        </p:spPr>
        <p:txBody>
          <a:bodyPr wrap="square" anchor="t">
            <a:spAutoFit/>
          </a:bodyPr>
          <a:lstStyle/>
          <a:p>
            <a:pPr algn="l"/>
            <a:r>
              <a:rPr sz="1500" b="1">
                <a:solidFill>
                  <a:srgbClr val="FFFFFF"/>
                </a:solidFill>
                <a:latin typeface="Aptos"/>
              </a:rPr>
              <a:t>3. Database</a:t>
            </a:r>
          </a:p>
        </p:txBody>
      </p:sp>
      <p:sp>
        <p:nvSpPr>
          <p:cNvPr id="36" name="TextBox 35"/>
          <p:cNvSpPr txBox="1"/>
          <p:nvPr/>
        </p:nvSpPr>
        <p:spPr>
          <a:xfrm>
            <a:off x="941832" y="5504688"/>
            <a:ext cx="4937760" cy="411480"/>
          </a:xfrm>
          <a:prstGeom prst="rect">
            <a:avLst/>
          </a:prstGeom>
          <a:noFill/>
        </p:spPr>
        <p:txBody>
          <a:bodyPr wrap="square" anchor="t">
            <a:spAutoFit/>
          </a:bodyPr>
          <a:lstStyle/>
          <a:p>
            <a:pPr algn="l"/>
            <a:r>
              <a:rPr sz="1150" b="0">
                <a:solidFill>
                  <a:srgbClr val="B2B9C2"/>
                </a:solidFill>
                <a:latin typeface="Aptos"/>
              </a:rPr>
              <a:t>Django ORM performs database operations on PostgreSQL.</a:t>
            </a:r>
          </a:p>
        </p:txBody>
      </p:sp>
      <p:sp>
        <p:nvSpPr>
          <p:cNvPr id="37" name="Rectangle 36"/>
          <p:cNvSpPr/>
          <p:nvPr/>
        </p:nvSpPr>
        <p:spPr>
          <a:xfrm>
            <a:off x="6172200" y="5230368"/>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5212080"/>
            <a:ext cx="4937760" cy="256032"/>
          </a:xfrm>
          <a:prstGeom prst="rect">
            <a:avLst/>
          </a:prstGeom>
          <a:noFill/>
        </p:spPr>
        <p:txBody>
          <a:bodyPr wrap="square" anchor="t">
            <a:spAutoFit/>
          </a:bodyPr>
          <a:lstStyle/>
          <a:p>
            <a:pPr algn="l"/>
            <a:r>
              <a:rPr sz="1500" b="1">
                <a:solidFill>
                  <a:srgbClr val="FFFFFF"/>
                </a:solidFill>
                <a:latin typeface="Aptos"/>
              </a:rPr>
              <a:t>4. Response</a:t>
            </a:r>
          </a:p>
        </p:txBody>
      </p:sp>
      <p:sp>
        <p:nvSpPr>
          <p:cNvPr id="39" name="TextBox 38"/>
          <p:cNvSpPr txBox="1"/>
          <p:nvPr/>
        </p:nvSpPr>
        <p:spPr>
          <a:xfrm>
            <a:off x="6400800" y="5504688"/>
            <a:ext cx="4937760" cy="411480"/>
          </a:xfrm>
          <a:prstGeom prst="rect">
            <a:avLst/>
          </a:prstGeom>
          <a:noFill/>
        </p:spPr>
        <p:txBody>
          <a:bodyPr wrap="square" anchor="t">
            <a:spAutoFit/>
          </a:bodyPr>
          <a:lstStyle/>
          <a:p>
            <a:pPr algn="l"/>
            <a:r>
              <a:rPr sz="1150" b="0">
                <a:solidFill>
                  <a:srgbClr val="B2B9C2"/>
                </a:solidFill>
                <a:latin typeface="Aptos"/>
              </a:rPr>
              <a:t>The processed information is returned to the user through the interface.</a:t>
            </a:r>
          </a:p>
        </p:txBody>
      </p:sp>
      <p:sp>
        <p:nvSpPr>
          <p:cNvPr id="40" name="Rectangle 39"/>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05 • DBMS</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Database Design</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06</a:t>
            </a:r>
          </a:p>
        </p:txBody>
      </p:sp>
      <p:sp>
        <p:nvSpPr>
          <p:cNvPr id="8" name="Rounded Rectangle 7"/>
          <p:cNvSpPr/>
          <p:nvPr/>
        </p:nvSpPr>
        <p:spPr>
          <a:xfrm>
            <a:off x="658368" y="1627632"/>
            <a:ext cx="5074920" cy="15087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627632"/>
            <a:ext cx="91440" cy="150876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74519"/>
            <a:ext cx="2103120" cy="320040"/>
          </a:xfrm>
          <a:prstGeom prst="rect">
            <a:avLst/>
          </a:prstGeom>
          <a:noFill/>
        </p:spPr>
        <p:txBody>
          <a:bodyPr wrap="square" anchor="t">
            <a:spAutoFit/>
          </a:bodyPr>
          <a:lstStyle/>
          <a:p>
            <a:pPr algn="l"/>
            <a:r>
              <a:rPr sz="1700" b="1">
                <a:solidFill>
                  <a:srgbClr val="FFFFFF"/>
                </a:solidFill>
                <a:latin typeface="Aptos"/>
              </a:rPr>
              <a:t>USER</a:t>
            </a:r>
          </a:p>
        </p:txBody>
      </p:sp>
      <p:sp>
        <p:nvSpPr>
          <p:cNvPr id="11" name="TextBox 10"/>
          <p:cNvSpPr txBox="1"/>
          <p:nvPr/>
        </p:nvSpPr>
        <p:spPr>
          <a:xfrm>
            <a:off x="932688" y="2340864"/>
            <a:ext cx="4343400" cy="438912"/>
          </a:xfrm>
          <a:prstGeom prst="rect">
            <a:avLst/>
          </a:prstGeom>
          <a:noFill/>
        </p:spPr>
        <p:txBody>
          <a:bodyPr wrap="square" anchor="t">
            <a:spAutoFit/>
          </a:bodyPr>
          <a:lstStyle/>
          <a:p>
            <a:pPr algn="l"/>
            <a:r>
              <a:rPr sz="1200" b="0">
                <a:solidFill>
                  <a:srgbClr val="B2B9C2"/>
                </a:solidFill>
                <a:latin typeface="Aptos"/>
              </a:rPr>
              <a:t>Authentication and account information</a:t>
            </a:r>
          </a:p>
        </p:txBody>
      </p:sp>
      <p:sp>
        <p:nvSpPr>
          <p:cNvPr id="12" name="Rounded Rectangle 11"/>
          <p:cNvSpPr/>
          <p:nvPr/>
        </p:nvSpPr>
        <p:spPr>
          <a:xfrm>
            <a:off x="6254496" y="1627632"/>
            <a:ext cx="5074920" cy="15087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54496" y="1627632"/>
            <a:ext cx="91440" cy="150876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1874519"/>
            <a:ext cx="2103120" cy="320040"/>
          </a:xfrm>
          <a:prstGeom prst="rect">
            <a:avLst/>
          </a:prstGeom>
          <a:noFill/>
        </p:spPr>
        <p:txBody>
          <a:bodyPr wrap="square" anchor="t">
            <a:spAutoFit/>
          </a:bodyPr>
          <a:lstStyle/>
          <a:p>
            <a:pPr algn="l"/>
            <a:r>
              <a:rPr sz="1700" b="1">
                <a:solidFill>
                  <a:srgbClr val="FFFFFF"/>
                </a:solidFill>
                <a:latin typeface="Aptos"/>
              </a:rPr>
              <a:t>RESTAURANT</a:t>
            </a:r>
          </a:p>
        </p:txBody>
      </p:sp>
      <p:sp>
        <p:nvSpPr>
          <p:cNvPr id="15" name="TextBox 14"/>
          <p:cNvSpPr txBox="1"/>
          <p:nvPr/>
        </p:nvSpPr>
        <p:spPr>
          <a:xfrm>
            <a:off x="6528816" y="2340864"/>
            <a:ext cx="4343400" cy="438912"/>
          </a:xfrm>
          <a:prstGeom prst="rect">
            <a:avLst/>
          </a:prstGeom>
          <a:noFill/>
        </p:spPr>
        <p:txBody>
          <a:bodyPr wrap="square" anchor="t">
            <a:spAutoFit/>
          </a:bodyPr>
          <a:lstStyle/>
          <a:p>
            <a:pPr algn="l"/>
            <a:r>
              <a:rPr sz="1200" b="0">
                <a:solidFill>
                  <a:srgbClr val="B2B9C2"/>
                </a:solidFill>
                <a:latin typeface="Aptos"/>
              </a:rPr>
              <a:t>Restaurant details and category</a:t>
            </a:r>
          </a:p>
        </p:txBody>
      </p:sp>
      <p:sp>
        <p:nvSpPr>
          <p:cNvPr id="16" name="Rounded Rectangle 15"/>
          <p:cNvSpPr/>
          <p:nvPr/>
        </p:nvSpPr>
        <p:spPr>
          <a:xfrm>
            <a:off x="658368" y="3593591"/>
            <a:ext cx="5074920" cy="15087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593591"/>
            <a:ext cx="91440" cy="150876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840479"/>
            <a:ext cx="2103120" cy="320040"/>
          </a:xfrm>
          <a:prstGeom prst="rect">
            <a:avLst/>
          </a:prstGeom>
          <a:noFill/>
        </p:spPr>
        <p:txBody>
          <a:bodyPr wrap="square" anchor="t">
            <a:spAutoFit/>
          </a:bodyPr>
          <a:lstStyle/>
          <a:p>
            <a:pPr algn="l"/>
            <a:r>
              <a:rPr sz="1700" b="1">
                <a:solidFill>
                  <a:srgbClr val="FFFFFF"/>
                </a:solidFill>
                <a:latin typeface="Aptos"/>
              </a:rPr>
              <a:t>FOOD ITEM</a:t>
            </a:r>
          </a:p>
        </p:txBody>
      </p:sp>
      <p:sp>
        <p:nvSpPr>
          <p:cNvPr id="19" name="TextBox 18"/>
          <p:cNvSpPr txBox="1"/>
          <p:nvPr/>
        </p:nvSpPr>
        <p:spPr>
          <a:xfrm>
            <a:off x="932688" y="4306824"/>
            <a:ext cx="4343400" cy="438912"/>
          </a:xfrm>
          <a:prstGeom prst="rect">
            <a:avLst/>
          </a:prstGeom>
          <a:noFill/>
        </p:spPr>
        <p:txBody>
          <a:bodyPr wrap="square" anchor="t">
            <a:spAutoFit/>
          </a:bodyPr>
          <a:lstStyle/>
          <a:p>
            <a:pPr algn="l"/>
            <a:r>
              <a:rPr sz="1200" b="0">
                <a:solidFill>
                  <a:srgbClr val="B2B9C2"/>
                </a:solidFill>
                <a:latin typeface="Aptos"/>
              </a:rPr>
              <a:t>Food name, price and restaurant relation</a:t>
            </a:r>
          </a:p>
        </p:txBody>
      </p:sp>
      <p:sp>
        <p:nvSpPr>
          <p:cNvPr id="20" name="Rounded Rectangle 19"/>
          <p:cNvSpPr/>
          <p:nvPr/>
        </p:nvSpPr>
        <p:spPr>
          <a:xfrm>
            <a:off x="6254496" y="3593591"/>
            <a:ext cx="5074920" cy="15087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54496" y="3593591"/>
            <a:ext cx="91440" cy="150876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8816" y="3840479"/>
            <a:ext cx="2103120" cy="320040"/>
          </a:xfrm>
          <a:prstGeom prst="rect">
            <a:avLst/>
          </a:prstGeom>
          <a:noFill/>
        </p:spPr>
        <p:txBody>
          <a:bodyPr wrap="square" anchor="t">
            <a:spAutoFit/>
          </a:bodyPr>
          <a:lstStyle/>
          <a:p>
            <a:pPr algn="l"/>
            <a:r>
              <a:rPr sz="1700" b="1">
                <a:solidFill>
                  <a:srgbClr val="FFFFFF"/>
                </a:solidFill>
                <a:latin typeface="Aptos"/>
              </a:rPr>
              <a:t>CART ITEM</a:t>
            </a:r>
          </a:p>
        </p:txBody>
      </p:sp>
      <p:sp>
        <p:nvSpPr>
          <p:cNvPr id="23" name="TextBox 22"/>
          <p:cNvSpPr txBox="1"/>
          <p:nvPr/>
        </p:nvSpPr>
        <p:spPr>
          <a:xfrm>
            <a:off x="6528816" y="4306824"/>
            <a:ext cx="4343400" cy="438912"/>
          </a:xfrm>
          <a:prstGeom prst="rect">
            <a:avLst/>
          </a:prstGeom>
          <a:noFill/>
        </p:spPr>
        <p:txBody>
          <a:bodyPr wrap="square" anchor="t">
            <a:spAutoFit/>
          </a:bodyPr>
          <a:lstStyle/>
          <a:p>
            <a:pPr algn="l"/>
            <a:r>
              <a:rPr sz="1200" b="0">
                <a:solidFill>
                  <a:srgbClr val="B2B9C2"/>
                </a:solidFill>
                <a:latin typeface="Aptos"/>
              </a:rPr>
              <a:t>Selected food and quantity/cart information</a:t>
            </a:r>
          </a:p>
        </p:txBody>
      </p:sp>
      <p:sp>
        <p:nvSpPr>
          <p:cNvPr id="24" name="Rounded Rectangle 23"/>
          <p:cNvSpPr/>
          <p:nvPr/>
        </p:nvSpPr>
        <p:spPr>
          <a:xfrm>
            <a:off x="1143000" y="5623560"/>
            <a:ext cx="9921240" cy="512064"/>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5760720"/>
            <a:ext cx="9555480" cy="228600"/>
          </a:xfrm>
          <a:prstGeom prst="rect">
            <a:avLst/>
          </a:prstGeom>
          <a:noFill/>
        </p:spPr>
        <p:txBody>
          <a:bodyPr wrap="square" anchor="t">
            <a:spAutoFit/>
          </a:bodyPr>
          <a:lstStyle/>
          <a:p>
            <a:pPr algn="ctr"/>
            <a:r>
              <a:rPr sz="1150" b="1">
                <a:solidFill>
                  <a:srgbClr val="F26C2D"/>
                </a:solidFill>
                <a:latin typeface="Aptos"/>
              </a:rPr>
              <a:t>Django models define relationships between entities and Django ORM maps them to PostgreSQL tables.</a:t>
            </a:r>
          </a:p>
        </p:txBody>
      </p:sp>
      <p:sp>
        <p:nvSpPr>
          <p:cNvPr id="26" name="Rectangle 25"/>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06 • FUNCTIONALITY</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Main Features</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07</a:t>
            </a:r>
          </a:p>
        </p:txBody>
      </p:sp>
      <p:sp>
        <p:nvSpPr>
          <p:cNvPr id="8" name="Rounded Rectangle 7"/>
          <p:cNvSpPr/>
          <p:nvPr/>
        </p:nvSpPr>
        <p:spPr>
          <a:xfrm>
            <a:off x="685800" y="157276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72768"/>
            <a:ext cx="73152" cy="107899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37360"/>
            <a:ext cx="4480560" cy="256032"/>
          </a:xfrm>
          <a:prstGeom prst="rect">
            <a:avLst/>
          </a:prstGeom>
          <a:noFill/>
        </p:spPr>
        <p:txBody>
          <a:bodyPr wrap="square" anchor="t">
            <a:spAutoFit/>
          </a:bodyPr>
          <a:lstStyle/>
          <a:p>
            <a:pPr algn="l"/>
            <a:r>
              <a:rPr sz="1500" b="1">
                <a:solidFill>
                  <a:srgbClr val="FFFFFF"/>
                </a:solidFill>
                <a:latin typeface="Aptos"/>
              </a:rPr>
              <a:t>Registration &amp; Login</a:t>
            </a:r>
          </a:p>
        </p:txBody>
      </p:sp>
      <p:sp>
        <p:nvSpPr>
          <p:cNvPr id="11" name="TextBox 10"/>
          <p:cNvSpPr txBox="1"/>
          <p:nvPr/>
        </p:nvSpPr>
        <p:spPr>
          <a:xfrm>
            <a:off x="941832" y="2084832"/>
            <a:ext cx="4526280" cy="384048"/>
          </a:xfrm>
          <a:prstGeom prst="rect">
            <a:avLst/>
          </a:prstGeom>
          <a:noFill/>
        </p:spPr>
        <p:txBody>
          <a:bodyPr wrap="square" anchor="t">
            <a:spAutoFit/>
          </a:bodyPr>
          <a:lstStyle/>
          <a:p>
            <a:pPr algn="l"/>
            <a:r>
              <a:rPr sz="1080" b="0">
                <a:solidFill>
                  <a:srgbClr val="B2B9C2"/>
                </a:solidFill>
                <a:latin typeface="Aptos"/>
              </a:rPr>
              <a:t>Users can create accounts and access the system securely.</a:t>
            </a:r>
          </a:p>
        </p:txBody>
      </p:sp>
      <p:sp>
        <p:nvSpPr>
          <p:cNvPr id="12" name="Rounded Rectangle 11"/>
          <p:cNvSpPr/>
          <p:nvPr/>
        </p:nvSpPr>
        <p:spPr>
          <a:xfrm>
            <a:off x="6217920" y="157276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572768"/>
            <a:ext cx="73152" cy="107899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737360"/>
            <a:ext cx="4480560" cy="256032"/>
          </a:xfrm>
          <a:prstGeom prst="rect">
            <a:avLst/>
          </a:prstGeom>
          <a:noFill/>
        </p:spPr>
        <p:txBody>
          <a:bodyPr wrap="square" anchor="t">
            <a:spAutoFit/>
          </a:bodyPr>
          <a:lstStyle/>
          <a:p>
            <a:pPr algn="l"/>
            <a:r>
              <a:rPr sz="1500" b="1">
                <a:solidFill>
                  <a:srgbClr val="FFFFFF"/>
                </a:solidFill>
                <a:latin typeface="Aptos"/>
              </a:rPr>
              <a:t>Restaurant Management</a:t>
            </a:r>
          </a:p>
        </p:txBody>
      </p:sp>
      <p:sp>
        <p:nvSpPr>
          <p:cNvPr id="15" name="TextBox 14"/>
          <p:cNvSpPr txBox="1"/>
          <p:nvPr/>
        </p:nvSpPr>
        <p:spPr>
          <a:xfrm>
            <a:off x="6473952" y="2084832"/>
            <a:ext cx="4526280" cy="384048"/>
          </a:xfrm>
          <a:prstGeom prst="rect">
            <a:avLst/>
          </a:prstGeom>
          <a:noFill/>
        </p:spPr>
        <p:txBody>
          <a:bodyPr wrap="square" anchor="t">
            <a:spAutoFit/>
          </a:bodyPr>
          <a:lstStyle/>
          <a:p>
            <a:pPr algn="l"/>
            <a:r>
              <a:rPr sz="1080" b="0">
                <a:solidFill>
                  <a:srgbClr val="B2B9C2"/>
                </a:solidFill>
                <a:latin typeface="Aptos"/>
              </a:rPr>
              <a:t>Restaurant records can be created and displayed.</a:t>
            </a:r>
          </a:p>
        </p:txBody>
      </p:sp>
      <p:sp>
        <p:nvSpPr>
          <p:cNvPr id="16" name="Rounded Rectangle 15"/>
          <p:cNvSpPr/>
          <p:nvPr/>
        </p:nvSpPr>
        <p:spPr>
          <a:xfrm>
            <a:off x="685800" y="299008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2990088"/>
            <a:ext cx="73152" cy="107899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3154680"/>
            <a:ext cx="4480560" cy="256032"/>
          </a:xfrm>
          <a:prstGeom prst="rect">
            <a:avLst/>
          </a:prstGeom>
          <a:noFill/>
        </p:spPr>
        <p:txBody>
          <a:bodyPr wrap="square" anchor="t">
            <a:spAutoFit/>
          </a:bodyPr>
          <a:lstStyle/>
          <a:p>
            <a:pPr algn="l"/>
            <a:r>
              <a:rPr sz="1500" b="1">
                <a:solidFill>
                  <a:srgbClr val="FFFFFF"/>
                </a:solidFill>
                <a:latin typeface="Aptos"/>
              </a:rPr>
              <a:t>Food Item Management</a:t>
            </a:r>
          </a:p>
        </p:txBody>
      </p:sp>
      <p:sp>
        <p:nvSpPr>
          <p:cNvPr id="19" name="TextBox 18"/>
          <p:cNvSpPr txBox="1"/>
          <p:nvPr/>
        </p:nvSpPr>
        <p:spPr>
          <a:xfrm>
            <a:off x="941832" y="3502152"/>
            <a:ext cx="4526280" cy="384048"/>
          </a:xfrm>
          <a:prstGeom prst="rect">
            <a:avLst/>
          </a:prstGeom>
          <a:noFill/>
        </p:spPr>
        <p:txBody>
          <a:bodyPr wrap="square" anchor="t">
            <a:spAutoFit/>
          </a:bodyPr>
          <a:lstStyle/>
          <a:p>
            <a:pPr algn="l"/>
            <a:r>
              <a:rPr sz="1080" b="0">
                <a:solidFill>
                  <a:srgbClr val="B2B9C2"/>
                </a:solidFill>
                <a:latin typeface="Aptos"/>
              </a:rPr>
              <a:t>Food items can be added and associated with restaurants.</a:t>
            </a:r>
          </a:p>
        </p:txBody>
      </p:sp>
      <p:sp>
        <p:nvSpPr>
          <p:cNvPr id="20" name="Rounded Rectangle 19"/>
          <p:cNvSpPr/>
          <p:nvPr/>
        </p:nvSpPr>
        <p:spPr>
          <a:xfrm>
            <a:off x="6217920" y="299008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990088"/>
            <a:ext cx="73152" cy="107899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154680"/>
            <a:ext cx="4480560" cy="256032"/>
          </a:xfrm>
          <a:prstGeom prst="rect">
            <a:avLst/>
          </a:prstGeom>
          <a:noFill/>
        </p:spPr>
        <p:txBody>
          <a:bodyPr wrap="square" anchor="t">
            <a:spAutoFit/>
          </a:bodyPr>
          <a:lstStyle/>
          <a:p>
            <a:pPr algn="l"/>
            <a:r>
              <a:rPr sz="1500" b="1">
                <a:solidFill>
                  <a:srgbClr val="FFFFFF"/>
                </a:solidFill>
                <a:latin typeface="Aptos"/>
              </a:rPr>
              <a:t>Cart Management</a:t>
            </a:r>
          </a:p>
        </p:txBody>
      </p:sp>
      <p:sp>
        <p:nvSpPr>
          <p:cNvPr id="23" name="TextBox 22"/>
          <p:cNvSpPr txBox="1"/>
          <p:nvPr/>
        </p:nvSpPr>
        <p:spPr>
          <a:xfrm>
            <a:off x="6473952" y="3502152"/>
            <a:ext cx="4526280" cy="384048"/>
          </a:xfrm>
          <a:prstGeom prst="rect">
            <a:avLst/>
          </a:prstGeom>
          <a:noFill/>
        </p:spPr>
        <p:txBody>
          <a:bodyPr wrap="square" anchor="t">
            <a:spAutoFit/>
          </a:bodyPr>
          <a:lstStyle/>
          <a:p>
            <a:pPr algn="l"/>
            <a:r>
              <a:rPr sz="1080" b="0">
                <a:solidFill>
                  <a:srgbClr val="B2B9C2"/>
                </a:solidFill>
                <a:latin typeface="Aptos"/>
              </a:rPr>
              <a:t>Users can add and manage selected food items.</a:t>
            </a:r>
          </a:p>
        </p:txBody>
      </p:sp>
      <p:sp>
        <p:nvSpPr>
          <p:cNvPr id="24" name="Rounded Rectangle 23"/>
          <p:cNvSpPr/>
          <p:nvPr/>
        </p:nvSpPr>
        <p:spPr>
          <a:xfrm>
            <a:off x="685800" y="440740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4407408"/>
            <a:ext cx="73152" cy="1078992"/>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572000"/>
            <a:ext cx="4480560" cy="256032"/>
          </a:xfrm>
          <a:prstGeom prst="rect">
            <a:avLst/>
          </a:prstGeom>
          <a:noFill/>
        </p:spPr>
        <p:txBody>
          <a:bodyPr wrap="square" anchor="t">
            <a:spAutoFit/>
          </a:bodyPr>
          <a:lstStyle/>
          <a:p>
            <a:pPr algn="l"/>
            <a:r>
              <a:rPr sz="1500" b="1">
                <a:solidFill>
                  <a:srgbClr val="FFFFFF"/>
                </a:solidFill>
                <a:latin typeface="Aptos"/>
              </a:rPr>
              <a:t>CRUD Operations</a:t>
            </a:r>
          </a:p>
        </p:txBody>
      </p:sp>
      <p:sp>
        <p:nvSpPr>
          <p:cNvPr id="27" name="TextBox 26"/>
          <p:cNvSpPr txBox="1"/>
          <p:nvPr/>
        </p:nvSpPr>
        <p:spPr>
          <a:xfrm>
            <a:off x="941832" y="4919472"/>
            <a:ext cx="4526280" cy="384048"/>
          </a:xfrm>
          <a:prstGeom prst="rect">
            <a:avLst/>
          </a:prstGeom>
          <a:noFill/>
        </p:spPr>
        <p:txBody>
          <a:bodyPr wrap="square" anchor="t">
            <a:spAutoFit/>
          </a:bodyPr>
          <a:lstStyle/>
          <a:p>
            <a:pPr algn="l"/>
            <a:r>
              <a:rPr sz="1080" b="0">
                <a:solidFill>
                  <a:srgbClr val="B2B9C2"/>
                </a:solidFill>
                <a:latin typeface="Aptos"/>
              </a:rPr>
              <a:t>Core database operations are implemented through the application.</a:t>
            </a:r>
          </a:p>
        </p:txBody>
      </p:sp>
      <p:sp>
        <p:nvSpPr>
          <p:cNvPr id="28" name="Rounded Rectangle 27"/>
          <p:cNvSpPr/>
          <p:nvPr/>
        </p:nvSpPr>
        <p:spPr>
          <a:xfrm>
            <a:off x="6217920" y="4407408"/>
            <a:ext cx="5074920" cy="1078992"/>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4407408"/>
            <a:ext cx="73152" cy="107899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572000"/>
            <a:ext cx="4480560" cy="256032"/>
          </a:xfrm>
          <a:prstGeom prst="rect">
            <a:avLst/>
          </a:prstGeom>
          <a:noFill/>
        </p:spPr>
        <p:txBody>
          <a:bodyPr wrap="square" anchor="t">
            <a:spAutoFit/>
          </a:bodyPr>
          <a:lstStyle/>
          <a:p>
            <a:pPr algn="l"/>
            <a:r>
              <a:rPr sz="1500" b="1">
                <a:solidFill>
                  <a:srgbClr val="FFFFFF"/>
                </a:solidFill>
                <a:latin typeface="Aptos"/>
              </a:rPr>
              <a:t>Persistent Storage</a:t>
            </a:r>
          </a:p>
        </p:txBody>
      </p:sp>
      <p:sp>
        <p:nvSpPr>
          <p:cNvPr id="31" name="TextBox 30"/>
          <p:cNvSpPr txBox="1"/>
          <p:nvPr/>
        </p:nvSpPr>
        <p:spPr>
          <a:xfrm>
            <a:off x="6473952" y="4919472"/>
            <a:ext cx="4526280" cy="384048"/>
          </a:xfrm>
          <a:prstGeom prst="rect">
            <a:avLst/>
          </a:prstGeom>
          <a:noFill/>
        </p:spPr>
        <p:txBody>
          <a:bodyPr wrap="square" anchor="t">
            <a:spAutoFit/>
          </a:bodyPr>
          <a:lstStyle/>
          <a:p>
            <a:pPr algn="l"/>
            <a:r>
              <a:rPr sz="1080" b="0">
                <a:solidFill>
                  <a:srgbClr val="B2B9C2"/>
                </a:solidFill>
                <a:latin typeface="Aptos"/>
              </a:rPr>
              <a:t>Application data is stored in PostgreSQL.</a:t>
            </a:r>
          </a:p>
        </p:txBody>
      </p:sp>
      <p:sp>
        <p:nvSpPr>
          <p:cNvPr id="32" name="Rectangle 31"/>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07 • USER FLOW</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Application Workflow</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08</a:t>
            </a:r>
          </a:p>
        </p:txBody>
      </p:sp>
      <p:sp>
        <p:nvSpPr>
          <p:cNvPr id="8" name="Rounded Rectangle 7"/>
          <p:cNvSpPr/>
          <p:nvPr/>
        </p:nvSpPr>
        <p:spPr>
          <a:xfrm>
            <a:off x="502920" y="1874519"/>
            <a:ext cx="2029968" cy="24231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2029968"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148840"/>
            <a:ext cx="502920" cy="274320"/>
          </a:xfrm>
          <a:prstGeom prst="rect">
            <a:avLst/>
          </a:prstGeom>
          <a:noFill/>
        </p:spPr>
        <p:txBody>
          <a:bodyPr wrap="square" anchor="t">
            <a:spAutoFit/>
          </a:bodyPr>
          <a:lstStyle/>
          <a:p>
            <a:pPr algn="l"/>
            <a:r>
              <a:rPr sz="1100" b="1">
                <a:solidFill>
                  <a:srgbClr val="F26C2D"/>
                </a:solidFill>
                <a:latin typeface="Aptos"/>
              </a:rPr>
              <a:t>01</a:t>
            </a:r>
          </a:p>
        </p:txBody>
      </p:sp>
      <p:sp>
        <p:nvSpPr>
          <p:cNvPr id="11" name="TextBox 10"/>
          <p:cNvSpPr txBox="1"/>
          <p:nvPr/>
        </p:nvSpPr>
        <p:spPr>
          <a:xfrm>
            <a:off x="667512" y="2670048"/>
            <a:ext cx="1691640" cy="548640"/>
          </a:xfrm>
          <a:prstGeom prst="rect">
            <a:avLst/>
          </a:prstGeom>
          <a:noFill/>
        </p:spPr>
        <p:txBody>
          <a:bodyPr wrap="square" anchor="t">
            <a:spAutoFit/>
          </a:bodyPr>
          <a:lstStyle/>
          <a:p>
            <a:pPr algn="l"/>
            <a:r>
              <a:rPr sz="1400" b="1">
                <a:solidFill>
                  <a:srgbClr val="FFFFFF"/>
                </a:solidFill>
                <a:latin typeface="Aptos"/>
              </a:rPr>
              <a:t>REGISTER / LOGIN</a:t>
            </a:r>
          </a:p>
        </p:txBody>
      </p:sp>
      <p:sp>
        <p:nvSpPr>
          <p:cNvPr id="12" name="TextBox 11"/>
          <p:cNvSpPr txBox="1"/>
          <p:nvPr/>
        </p:nvSpPr>
        <p:spPr>
          <a:xfrm>
            <a:off x="667512" y="3401568"/>
            <a:ext cx="1664208" cy="594360"/>
          </a:xfrm>
          <a:prstGeom prst="rect">
            <a:avLst/>
          </a:prstGeom>
          <a:noFill/>
        </p:spPr>
        <p:txBody>
          <a:bodyPr wrap="square" anchor="t">
            <a:spAutoFit/>
          </a:bodyPr>
          <a:lstStyle/>
          <a:p>
            <a:pPr algn="l"/>
            <a:r>
              <a:rPr sz="1050" b="0">
                <a:solidFill>
                  <a:srgbClr val="B2B9C2"/>
                </a:solidFill>
                <a:latin typeface="Aptos"/>
              </a:rPr>
              <a:t>User creates an account or signs in.</a:t>
            </a:r>
          </a:p>
        </p:txBody>
      </p:sp>
      <p:sp>
        <p:nvSpPr>
          <p:cNvPr id="13" name="Chevron 12"/>
          <p:cNvSpPr/>
          <p:nvPr/>
        </p:nvSpPr>
        <p:spPr>
          <a:xfrm>
            <a:off x="2606039" y="2834640"/>
            <a:ext cx="256032" cy="320040"/>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34639" y="1874519"/>
            <a:ext cx="2029968" cy="24231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39" y="1874519"/>
            <a:ext cx="2029968"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148840"/>
            <a:ext cx="502920" cy="274320"/>
          </a:xfrm>
          <a:prstGeom prst="rect">
            <a:avLst/>
          </a:prstGeom>
          <a:noFill/>
        </p:spPr>
        <p:txBody>
          <a:bodyPr wrap="square" anchor="t">
            <a:spAutoFit/>
          </a:bodyPr>
          <a:lstStyle/>
          <a:p>
            <a:pPr algn="l"/>
            <a:r>
              <a:rPr sz="1100" b="1">
                <a:solidFill>
                  <a:srgbClr val="F26C2D"/>
                </a:solidFill>
                <a:latin typeface="Aptos"/>
              </a:rPr>
              <a:t>02</a:t>
            </a:r>
          </a:p>
        </p:txBody>
      </p:sp>
      <p:sp>
        <p:nvSpPr>
          <p:cNvPr id="17" name="TextBox 16"/>
          <p:cNvSpPr txBox="1"/>
          <p:nvPr/>
        </p:nvSpPr>
        <p:spPr>
          <a:xfrm>
            <a:off x="2999232" y="2670048"/>
            <a:ext cx="1691640" cy="548640"/>
          </a:xfrm>
          <a:prstGeom prst="rect">
            <a:avLst/>
          </a:prstGeom>
          <a:noFill/>
        </p:spPr>
        <p:txBody>
          <a:bodyPr wrap="square" anchor="t">
            <a:spAutoFit/>
          </a:bodyPr>
          <a:lstStyle/>
          <a:p>
            <a:pPr algn="l"/>
            <a:r>
              <a:rPr sz="1400" b="1">
                <a:solidFill>
                  <a:srgbClr val="FFFFFF"/>
                </a:solidFill>
                <a:latin typeface="Aptos"/>
              </a:rPr>
              <a:t>RESTAURANTS</a:t>
            </a:r>
          </a:p>
        </p:txBody>
      </p:sp>
      <p:sp>
        <p:nvSpPr>
          <p:cNvPr id="18" name="TextBox 17"/>
          <p:cNvSpPr txBox="1"/>
          <p:nvPr/>
        </p:nvSpPr>
        <p:spPr>
          <a:xfrm>
            <a:off x="2999232" y="3401568"/>
            <a:ext cx="1664208" cy="594360"/>
          </a:xfrm>
          <a:prstGeom prst="rect">
            <a:avLst/>
          </a:prstGeom>
          <a:noFill/>
        </p:spPr>
        <p:txBody>
          <a:bodyPr wrap="square" anchor="t">
            <a:spAutoFit/>
          </a:bodyPr>
          <a:lstStyle/>
          <a:p>
            <a:pPr algn="l"/>
            <a:r>
              <a:rPr sz="1050" b="0">
                <a:solidFill>
                  <a:srgbClr val="B2B9C2"/>
                </a:solidFill>
                <a:latin typeface="Aptos"/>
              </a:rPr>
              <a:t>User views available restaurants.</a:t>
            </a:r>
          </a:p>
        </p:txBody>
      </p:sp>
      <p:sp>
        <p:nvSpPr>
          <p:cNvPr id="19" name="Chevron 18"/>
          <p:cNvSpPr/>
          <p:nvPr/>
        </p:nvSpPr>
        <p:spPr>
          <a:xfrm>
            <a:off x="4937759" y="2834640"/>
            <a:ext cx="256032" cy="320040"/>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66359" y="1874519"/>
            <a:ext cx="2029968" cy="24231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66359" y="1874519"/>
            <a:ext cx="2029968"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30951" y="2148840"/>
            <a:ext cx="502920" cy="274320"/>
          </a:xfrm>
          <a:prstGeom prst="rect">
            <a:avLst/>
          </a:prstGeom>
          <a:noFill/>
        </p:spPr>
        <p:txBody>
          <a:bodyPr wrap="square" anchor="t">
            <a:spAutoFit/>
          </a:bodyPr>
          <a:lstStyle/>
          <a:p>
            <a:pPr algn="l"/>
            <a:r>
              <a:rPr sz="1100" b="1">
                <a:solidFill>
                  <a:srgbClr val="F26C2D"/>
                </a:solidFill>
                <a:latin typeface="Aptos"/>
              </a:rPr>
              <a:t>03</a:t>
            </a:r>
          </a:p>
        </p:txBody>
      </p:sp>
      <p:sp>
        <p:nvSpPr>
          <p:cNvPr id="23" name="TextBox 22"/>
          <p:cNvSpPr txBox="1"/>
          <p:nvPr/>
        </p:nvSpPr>
        <p:spPr>
          <a:xfrm>
            <a:off x="5330951" y="2670048"/>
            <a:ext cx="1691640" cy="548640"/>
          </a:xfrm>
          <a:prstGeom prst="rect">
            <a:avLst/>
          </a:prstGeom>
          <a:noFill/>
        </p:spPr>
        <p:txBody>
          <a:bodyPr wrap="square" anchor="t">
            <a:spAutoFit/>
          </a:bodyPr>
          <a:lstStyle/>
          <a:p>
            <a:pPr algn="l"/>
            <a:r>
              <a:rPr sz="1400" b="1">
                <a:solidFill>
                  <a:srgbClr val="FFFFFF"/>
                </a:solidFill>
                <a:latin typeface="Aptos"/>
              </a:rPr>
              <a:t>FOOD ITEMS</a:t>
            </a:r>
          </a:p>
        </p:txBody>
      </p:sp>
      <p:sp>
        <p:nvSpPr>
          <p:cNvPr id="24" name="TextBox 23"/>
          <p:cNvSpPr txBox="1"/>
          <p:nvPr/>
        </p:nvSpPr>
        <p:spPr>
          <a:xfrm>
            <a:off x="5330951" y="3401568"/>
            <a:ext cx="1664208" cy="594360"/>
          </a:xfrm>
          <a:prstGeom prst="rect">
            <a:avLst/>
          </a:prstGeom>
          <a:noFill/>
        </p:spPr>
        <p:txBody>
          <a:bodyPr wrap="square" anchor="t">
            <a:spAutoFit/>
          </a:bodyPr>
          <a:lstStyle/>
          <a:p>
            <a:pPr algn="l"/>
            <a:r>
              <a:rPr sz="1050" b="0">
                <a:solidFill>
                  <a:srgbClr val="B2B9C2"/>
                </a:solidFill>
                <a:latin typeface="Aptos"/>
              </a:rPr>
              <a:t>User selects food from a restaurant.</a:t>
            </a:r>
          </a:p>
        </p:txBody>
      </p:sp>
      <p:sp>
        <p:nvSpPr>
          <p:cNvPr id="25" name="Chevron 24"/>
          <p:cNvSpPr/>
          <p:nvPr/>
        </p:nvSpPr>
        <p:spPr>
          <a:xfrm>
            <a:off x="7269479" y="2834640"/>
            <a:ext cx="256032" cy="320040"/>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98079" y="1874519"/>
            <a:ext cx="2029968" cy="24231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498079" y="1874519"/>
            <a:ext cx="2029968"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62671" y="2148840"/>
            <a:ext cx="502920" cy="274320"/>
          </a:xfrm>
          <a:prstGeom prst="rect">
            <a:avLst/>
          </a:prstGeom>
          <a:noFill/>
        </p:spPr>
        <p:txBody>
          <a:bodyPr wrap="square" anchor="t">
            <a:spAutoFit/>
          </a:bodyPr>
          <a:lstStyle/>
          <a:p>
            <a:pPr algn="l"/>
            <a:r>
              <a:rPr sz="1100" b="1">
                <a:solidFill>
                  <a:srgbClr val="F26C2D"/>
                </a:solidFill>
                <a:latin typeface="Aptos"/>
              </a:rPr>
              <a:t>04</a:t>
            </a:r>
          </a:p>
        </p:txBody>
      </p:sp>
      <p:sp>
        <p:nvSpPr>
          <p:cNvPr id="29" name="TextBox 28"/>
          <p:cNvSpPr txBox="1"/>
          <p:nvPr/>
        </p:nvSpPr>
        <p:spPr>
          <a:xfrm>
            <a:off x="7662671" y="2670048"/>
            <a:ext cx="1691640" cy="548640"/>
          </a:xfrm>
          <a:prstGeom prst="rect">
            <a:avLst/>
          </a:prstGeom>
          <a:noFill/>
        </p:spPr>
        <p:txBody>
          <a:bodyPr wrap="square" anchor="t">
            <a:spAutoFit/>
          </a:bodyPr>
          <a:lstStyle/>
          <a:p>
            <a:pPr algn="l"/>
            <a:r>
              <a:rPr sz="1400" b="1">
                <a:solidFill>
                  <a:srgbClr val="FFFFFF"/>
                </a:solidFill>
                <a:latin typeface="Aptos"/>
              </a:rPr>
              <a:t>ADD TO CART</a:t>
            </a:r>
          </a:p>
        </p:txBody>
      </p:sp>
      <p:sp>
        <p:nvSpPr>
          <p:cNvPr id="30" name="TextBox 29"/>
          <p:cNvSpPr txBox="1"/>
          <p:nvPr/>
        </p:nvSpPr>
        <p:spPr>
          <a:xfrm>
            <a:off x="7662671" y="3401568"/>
            <a:ext cx="1664208" cy="594360"/>
          </a:xfrm>
          <a:prstGeom prst="rect">
            <a:avLst/>
          </a:prstGeom>
          <a:noFill/>
        </p:spPr>
        <p:txBody>
          <a:bodyPr wrap="square" anchor="t">
            <a:spAutoFit/>
          </a:bodyPr>
          <a:lstStyle/>
          <a:p>
            <a:pPr algn="l"/>
            <a:r>
              <a:rPr sz="1050" b="0">
                <a:solidFill>
                  <a:srgbClr val="B2B9C2"/>
                </a:solidFill>
                <a:latin typeface="Aptos"/>
              </a:rPr>
              <a:t>Selected food is stored as a cart item.</a:t>
            </a:r>
          </a:p>
        </p:txBody>
      </p:sp>
      <p:sp>
        <p:nvSpPr>
          <p:cNvPr id="31" name="Chevron 30"/>
          <p:cNvSpPr/>
          <p:nvPr/>
        </p:nvSpPr>
        <p:spPr>
          <a:xfrm>
            <a:off x="9601200" y="2834640"/>
            <a:ext cx="256032" cy="320040"/>
          </a:xfrm>
          <a:prstGeom prst="chevron">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29800" y="1874519"/>
            <a:ext cx="2029968" cy="242316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29800" y="1874519"/>
            <a:ext cx="2029968" cy="109728"/>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94392" y="2148840"/>
            <a:ext cx="502920" cy="274320"/>
          </a:xfrm>
          <a:prstGeom prst="rect">
            <a:avLst/>
          </a:prstGeom>
          <a:noFill/>
        </p:spPr>
        <p:txBody>
          <a:bodyPr wrap="square" anchor="t">
            <a:spAutoFit/>
          </a:bodyPr>
          <a:lstStyle/>
          <a:p>
            <a:pPr algn="l"/>
            <a:r>
              <a:rPr sz="1100" b="1">
                <a:solidFill>
                  <a:srgbClr val="FF924C"/>
                </a:solidFill>
                <a:latin typeface="Aptos"/>
              </a:rPr>
              <a:t>05</a:t>
            </a:r>
          </a:p>
        </p:txBody>
      </p:sp>
      <p:sp>
        <p:nvSpPr>
          <p:cNvPr id="35" name="TextBox 34"/>
          <p:cNvSpPr txBox="1"/>
          <p:nvPr/>
        </p:nvSpPr>
        <p:spPr>
          <a:xfrm>
            <a:off x="9994392" y="2670048"/>
            <a:ext cx="1691640" cy="548640"/>
          </a:xfrm>
          <a:prstGeom prst="rect">
            <a:avLst/>
          </a:prstGeom>
          <a:noFill/>
        </p:spPr>
        <p:txBody>
          <a:bodyPr wrap="square" anchor="t">
            <a:spAutoFit/>
          </a:bodyPr>
          <a:lstStyle/>
          <a:p>
            <a:pPr algn="l"/>
            <a:r>
              <a:rPr sz="1400" b="1">
                <a:solidFill>
                  <a:srgbClr val="FFFFFF"/>
                </a:solidFill>
                <a:latin typeface="Aptos"/>
              </a:rPr>
              <a:t>MANAGE CART</a:t>
            </a:r>
          </a:p>
        </p:txBody>
      </p:sp>
      <p:sp>
        <p:nvSpPr>
          <p:cNvPr id="36" name="TextBox 35"/>
          <p:cNvSpPr txBox="1"/>
          <p:nvPr/>
        </p:nvSpPr>
        <p:spPr>
          <a:xfrm>
            <a:off x="9994392" y="3401568"/>
            <a:ext cx="1664208" cy="594360"/>
          </a:xfrm>
          <a:prstGeom prst="rect">
            <a:avLst/>
          </a:prstGeom>
          <a:noFill/>
        </p:spPr>
        <p:txBody>
          <a:bodyPr wrap="square" anchor="t">
            <a:spAutoFit/>
          </a:bodyPr>
          <a:lstStyle/>
          <a:p>
            <a:pPr algn="l"/>
            <a:r>
              <a:rPr sz="1050" b="0">
                <a:solidFill>
                  <a:srgbClr val="B2B9C2"/>
                </a:solidFill>
                <a:latin typeface="Aptos"/>
              </a:rPr>
              <a:t>User reviews selected items.</a:t>
            </a:r>
          </a:p>
        </p:txBody>
      </p:sp>
      <p:sp>
        <p:nvSpPr>
          <p:cNvPr id="37" name="TextBox 36"/>
          <p:cNvSpPr txBox="1"/>
          <p:nvPr/>
        </p:nvSpPr>
        <p:spPr>
          <a:xfrm>
            <a:off x="914400" y="5074920"/>
            <a:ext cx="10332720" cy="457200"/>
          </a:xfrm>
          <a:prstGeom prst="rect">
            <a:avLst/>
          </a:prstGeom>
          <a:noFill/>
        </p:spPr>
        <p:txBody>
          <a:bodyPr wrap="square" anchor="t">
            <a:spAutoFit/>
          </a:bodyPr>
          <a:lstStyle/>
          <a:p>
            <a:pPr algn="ctr"/>
            <a:r>
              <a:rPr sz="1400" b="1">
                <a:solidFill>
                  <a:srgbClr val="F26C2D"/>
                </a:solidFill>
                <a:latin typeface="Aptos"/>
              </a:rPr>
              <a:t>The workflow connects the frontend, Django application logic and database operations into one system.</a:t>
            </a:r>
          </a:p>
        </p:txBody>
      </p:sp>
      <p:sp>
        <p:nvSpPr>
          <p:cNvPr id="38" name="Rectangle 37"/>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08 • DATABASE OPERATIONS</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CRUD Operations</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09</a:t>
            </a:r>
          </a:p>
        </p:txBody>
      </p:sp>
      <p:sp>
        <p:nvSpPr>
          <p:cNvPr id="8" name="Rounded Rectangle 7"/>
          <p:cNvSpPr/>
          <p:nvPr/>
        </p:nvSpPr>
        <p:spPr>
          <a:xfrm>
            <a:off x="658368" y="1828800"/>
            <a:ext cx="2487168" cy="233172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828800"/>
            <a:ext cx="2487168" cy="11887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240280"/>
            <a:ext cx="2057400" cy="411480"/>
          </a:xfrm>
          <a:prstGeom prst="rect">
            <a:avLst/>
          </a:prstGeom>
          <a:noFill/>
        </p:spPr>
        <p:txBody>
          <a:bodyPr wrap="square" anchor="t">
            <a:spAutoFit/>
          </a:bodyPr>
          <a:lstStyle/>
          <a:p>
            <a:pPr algn="ctr"/>
            <a:r>
              <a:rPr sz="1800" b="1">
                <a:solidFill>
                  <a:srgbClr val="FFFFFF"/>
                </a:solidFill>
                <a:latin typeface="Aptos"/>
              </a:rPr>
              <a:t>CREATE</a:t>
            </a:r>
          </a:p>
        </p:txBody>
      </p:sp>
      <p:sp>
        <p:nvSpPr>
          <p:cNvPr id="11" name="TextBox 10"/>
          <p:cNvSpPr txBox="1"/>
          <p:nvPr/>
        </p:nvSpPr>
        <p:spPr>
          <a:xfrm>
            <a:off x="932688" y="2926080"/>
            <a:ext cx="1938528" cy="868680"/>
          </a:xfrm>
          <a:prstGeom prst="rect">
            <a:avLst/>
          </a:prstGeom>
          <a:noFill/>
        </p:spPr>
        <p:txBody>
          <a:bodyPr wrap="square" anchor="t">
            <a:spAutoFit/>
          </a:bodyPr>
          <a:lstStyle/>
          <a:p>
            <a:pPr algn="ctr"/>
            <a:r>
              <a:rPr sz="1150" b="0">
                <a:solidFill>
                  <a:srgbClr val="B2B9C2"/>
                </a:solidFill>
                <a:latin typeface="Aptos"/>
              </a:rPr>
              <a:t>Add new restaurant and food-item records.</a:t>
            </a:r>
          </a:p>
        </p:txBody>
      </p:sp>
      <p:sp>
        <p:nvSpPr>
          <p:cNvPr id="12" name="Rounded Rectangle 11"/>
          <p:cNvSpPr/>
          <p:nvPr/>
        </p:nvSpPr>
        <p:spPr>
          <a:xfrm>
            <a:off x="3447287" y="1828800"/>
            <a:ext cx="2487168" cy="233172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47287" y="1828800"/>
            <a:ext cx="2487168" cy="11887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8456" y="2240280"/>
            <a:ext cx="2057400" cy="411480"/>
          </a:xfrm>
          <a:prstGeom prst="rect">
            <a:avLst/>
          </a:prstGeom>
          <a:noFill/>
        </p:spPr>
        <p:txBody>
          <a:bodyPr wrap="square" anchor="t">
            <a:spAutoFit/>
          </a:bodyPr>
          <a:lstStyle/>
          <a:p>
            <a:pPr algn="ctr"/>
            <a:r>
              <a:rPr sz="1800" b="1">
                <a:solidFill>
                  <a:srgbClr val="FFFFFF"/>
                </a:solidFill>
                <a:latin typeface="Aptos"/>
              </a:rPr>
              <a:t>READ</a:t>
            </a:r>
          </a:p>
        </p:txBody>
      </p:sp>
      <p:sp>
        <p:nvSpPr>
          <p:cNvPr id="15" name="TextBox 14"/>
          <p:cNvSpPr txBox="1"/>
          <p:nvPr/>
        </p:nvSpPr>
        <p:spPr>
          <a:xfrm>
            <a:off x="3721607" y="2926080"/>
            <a:ext cx="1938528" cy="868680"/>
          </a:xfrm>
          <a:prstGeom prst="rect">
            <a:avLst/>
          </a:prstGeom>
          <a:noFill/>
        </p:spPr>
        <p:txBody>
          <a:bodyPr wrap="square" anchor="t">
            <a:spAutoFit/>
          </a:bodyPr>
          <a:lstStyle/>
          <a:p>
            <a:pPr algn="ctr"/>
            <a:r>
              <a:rPr sz="1150" b="0">
                <a:solidFill>
                  <a:srgbClr val="B2B9C2"/>
                </a:solidFill>
                <a:latin typeface="Aptos"/>
              </a:rPr>
              <a:t>Display stored restaurants, food items and cart information.</a:t>
            </a:r>
          </a:p>
        </p:txBody>
      </p:sp>
      <p:sp>
        <p:nvSpPr>
          <p:cNvPr id="16" name="Rounded Rectangle 15"/>
          <p:cNvSpPr/>
          <p:nvPr/>
        </p:nvSpPr>
        <p:spPr>
          <a:xfrm>
            <a:off x="6236207" y="1828800"/>
            <a:ext cx="2487168" cy="233172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7" y="1828800"/>
            <a:ext cx="2487168" cy="11887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7375" y="2240280"/>
            <a:ext cx="2057400" cy="411480"/>
          </a:xfrm>
          <a:prstGeom prst="rect">
            <a:avLst/>
          </a:prstGeom>
          <a:noFill/>
        </p:spPr>
        <p:txBody>
          <a:bodyPr wrap="square" anchor="t">
            <a:spAutoFit/>
          </a:bodyPr>
          <a:lstStyle/>
          <a:p>
            <a:pPr algn="ctr"/>
            <a:r>
              <a:rPr sz="1800" b="1">
                <a:solidFill>
                  <a:srgbClr val="FFFFFF"/>
                </a:solidFill>
                <a:latin typeface="Aptos"/>
              </a:rPr>
              <a:t>UPDATE</a:t>
            </a:r>
          </a:p>
        </p:txBody>
      </p:sp>
      <p:sp>
        <p:nvSpPr>
          <p:cNvPr id="19" name="TextBox 18"/>
          <p:cNvSpPr txBox="1"/>
          <p:nvPr/>
        </p:nvSpPr>
        <p:spPr>
          <a:xfrm>
            <a:off x="6510527" y="2926080"/>
            <a:ext cx="1938528" cy="868680"/>
          </a:xfrm>
          <a:prstGeom prst="rect">
            <a:avLst/>
          </a:prstGeom>
          <a:noFill/>
        </p:spPr>
        <p:txBody>
          <a:bodyPr wrap="square" anchor="t">
            <a:spAutoFit/>
          </a:bodyPr>
          <a:lstStyle/>
          <a:p>
            <a:pPr algn="ctr"/>
            <a:r>
              <a:rPr sz="1150" b="0">
                <a:solidFill>
                  <a:srgbClr val="B2B9C2"/>
                </a:solidFill>
                <a:latin typeface="Aptos"/>
              </a:rPr>
              <a:t>Modify existing restaurant or food-item details.</a:t>
            </a:r>
          </a:p>
        </p:txBody>
      </p:sp>
      <p:sp>
        <p:nvSpPr>
          <p:cNvPr id="20" name="Rounded Rectangle 19"/>
          <p:cNvSpPr/>
          <p:nvPr/>
        </p:nvSpPr>
        <p:spPr>
          <a:xfrm>
            <a:off x="9025128" y="1828800"/>
            <a:ext cx="2487168" cy="2331720"/>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25128" y="1828800"/>
            <a:ext cx="2487168" cy="118872"/>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240280"/>
            <a:ext cx="2057400" cy="411480"/>
          </a:xfrm>
          <a:prstGeom prst="rect">
            <a:avLst/>
          </a:prstGeom>
          <a:noFill/>
        </p:spPr>
        <p:txBody>
          <a:bodyPr wrap="square" anchor="t">
            <a:spAutoFit/>
          </a:bodyPr>
          <a:lstStyle/>
          <a:p>
            <a:pPr algn="ctr"/>
            <a:r>
              <a:rPr sz="1800" b="1">
                <a:solidFill>
                  <a:srgbClr val="FFFFFF"/>
                </a:solidFill>
                <a:latin typeface="Aptos"/>
              </a:rPr>
              <a:t>DELETE</a:t>
            </a:r>
          </a:p>
        </p:txBody>
      </p:sp>
      <p:sp>
        <p:nvSpPr>
          <p:cNvPr id="23" name="TextBox 22"/>
          <p:cNvSpPr txBox="1"/>
          <p:nvPr/>
        </p:nvSpPr>
        <p:spPr>
          <a:xfrm>
            <a:off x="9299448" y="2926080"/>
            <a:ext cx="1938528" cy="868680"/>
          </a:xfrm>
          <a:prstGeom prst="rect">
            <a:avLst/>
          </a:prstGeom>
          <a:noFill/>
        </p:spPr>
        <p:txBody>
          <a:bodyPr wrap="square" anchor="t">
            <a:spAutoFit/>
          </a:bodyPr>
          <a:lstStyle/>
          <a:p>
            <a:pPr algn="ctr"/>
            <a:r>
              <a:rPr sz="1150" b="0">
                <a:solidFill>
                  <a:srgbClr val="B2B9C2"/>
                </a:solidFill>
                <a:latin typeface="Aptos"/>
              </a:rPr>
              <a:t>Remove records that are no longer required.</a:t>
            </a:r>
          </a:p>
        </p:txBody>
      </p:sp>
      <p:sp>
        <p:nvSpPr>
          <p:cNvPr id="24" name="TextBox 23"/>
          <p:cNvSpPr txBox="1"/>
          <p:nvPr/>
        </p:nvSpPr>
        <p:spPr>
          <a:xfrm>
            <a:off x="1188720" y="4892040"/>
            <a:ext cx="9784080" cy="457200"/>
          </a:xfrm>
          <a:prstGeom prst="rect">
            <a:avLst/>
          </a:prstGeom>
          <a:noFill/>
        </p:spPr>
        <p:txBody>
          <a:bodyPr wrap="square" anchor="t">
            <a:spAutoFit/>
          </a:bodyPr>
          <a:lstStyle/>
          <a:p>
            <a:pPr algn="ctr"/>
            <a:r>
              <a:rPr sz="1600" b="1">
                <a:solidFill>
                  <a:srgbClr val="F26C2D"/>
                </a:solidFill>
                <a:latin typeface="Aptos"/>
              </a:rPr>
              <a:t>CRUD operations are a core part of the project's DBMS implementation.</a:t>
            </a:r>
          </a:p>
        </p:txBody>
      </p:sp>
      <p:sp>
        <p:nvSpPr>
          <p:cNvPr id="25" name="Rectangle 24"/>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09 • BENEFITS</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Advantages</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10</a:t>
            </a:r>
          </a:p>
        </p:txBody>
      </p:sp>
      <p:sp>
        <p:nvSpPr>
          <p:cNvPr id="8" name="Rectangle 7"/>
          <p:cNvSpPr/>
          <p:nvPr/>
        </p:nvSpPr>
        <p:spPr>
          <a:xfrm>
            <a:off x="868680" y="1572768"/>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54480"/>
            <a:ext cx="9921240" cy="256032"/>
          </a:xfrm>
          <a:prstGeom prst="rect">
            <a:avLst/>
          </a:prstGeom>
          <a:noFill/>
        </p:spPr>
        <p:txBody>
          <a:bodyPr wrap="square" anchor="t">
            <a:spAutoFit/>
          </a:bodyPr>
          <a:lstStyle/>
          <a:p>
            <a:pPr algn="l"/>
            <a:r>
              <a:rPr sz="1500" b="1">
                <a:solidFill>
                  <a:srgbClr val="FFFFFF"/>
                </a:solidFill>
                <a:latin typeface="Aptos"/>
              </a:rPr>
              <a:t>Centralized Data</a:t>
            </a:r>
          </a:p>
        </p:txBody>
      </p:sp>
      <p:sp>
        <p:nvSpPr>
          <p:cNvPr id="10" name="TextBox 9"/>
          <p:cNvSpPr txBox="1"/>
          <p:nvPr/>
        </p:nvSpPr>
        <p:spPr>
          <a:xfrm>
            <a:off x="1097280" y="1847088"/>
            <a:ext cx="9921240" cy="411480"/>
          </a:xfrm>
          <a:prstGeom prst="rect">
            <a:avLst/>
          </a:prstGeom>
          <a:noFill/>
        </p:spPr>
        <p:txBody>
          <a:bodyPr wrap="square" anchor="t">
            <a:spAutoFit/>
          </a:bodyPr>
          <a:lstStyle/>
          <a:p>
            <a:pPr algn="l"/>
            <a:r>
              <a:rPr sz="1150" b="0">
                <a:solidFill>
                  <a:srgbClr val="B2B9C2"/>
                </a:solidFill>
                <a:latin typeface="Aptos"/>
              </a:rPr>
              <a:t>All major application records are maintained in a structured relational database.</a:t>
            </a:r>
          </a:p>
        </p:txBody>
      </p:sp>
      <p:sp>
        <p:nvSpPr>
          <p:cNvPr id="11" name="Rectangle 10"/>
          <p:cNvSpPr/>
          <p:nvPr/>
        </p:nvSpPr>
        <p:spPr>
          <a:xfrm>
            <a:off x="868680" y="2414016"/>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395728"/>
            <a:ext cx="9921240" cy="256032"/>
          </a:xfrm>
          <a:prstGeom prst="rect">
            <a:avLst/>
          </a:prstGeom>
          <a:noFill/>
        </p:spPr>
        <p:txBody>
          <a:bodyPr wrap="square" anchor="t">
            <a:spAutoFit/>
          </a:bodyPr>
          <a:lstStyle/>
          <a:p>
            <a:pPr algn="l"/>
            <a:r>
              <a:rPr sz="1500" b="1">
                <a:solidFill>
                  <a:srgbClr val="FFFFFF"/>
                </a:solidFill>
                <a:latin typeface="Aptos"/>
              </a:rPr>
              <a:t>Better Organization</a:t>
            </a:r>
          </a:p>
        </p:txBody>
      </p:sp>
      <p:sp>
        <p:nvSpPr>
          <p:cNvPr id="13" name="TextBox 12"/>
          <p:cNvSpPr txBox="1"/>
          <p:nvPr/>
        </p:nvSpPr>
        <p:spPr>
          <a:xfrm>
            <a:off x="1097280" y="2688336"/>
            <a:ext cx="9921240" cy="411480"/>
          </a:xfrm>
          <a:prstGeom prst="rect">
            <a:avLst/>
          </a:prstGeom>
          <a:noFill/>
        </p:spPr>
        <p:txBody>
          <a:bodyPr wrap="square" anchor="t">
            <a:spAutoFit/>
          </a:bodyPr>
          <a:lstStyle/>
          <a:p>
            <a:pPr algn="l"/>
            <a:r>
              <a:rPr sz="1150" b="0">
                <a:solidFill>
                  <a:srgbClr val="B2B9C2"/>
                </a:solidFill>
                <a:latin typeface="Aptos"/>
              </a:rPr>
              <a:t>Restaurant, food and cart information is separated into logical entities.</a:t>
            </a:r>
          </a:p>
        </p:txBody>
      </p:sp>
      <p:sp>
        <p:nvSpPr>
          <p:cNvPr id="14" name="Rectangle 13"/>
          <p:cNvSpPr/>
          <p:nvPr/>
        </p:nvSpPr>
        <p:spPr>
          <a:xfrm>
            <a:off x="868680" y="3255264"/>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36976"/>
            <a:ext cx="9921240" cy="256032"/>
          </a:xfrm>
          <a:prstGeom prst="rect">
            <a:avLst/>
          </a:prstGeom>
          <a:noFill/>
        </p:spPr>
        <p:txBody>
          <a:bodyPr wrap="square" anchor="t">
            <a:spAutoFit/>
          </a:bodyPr>
          <a:lstStyle/>
          <a:p>
            <a:pPr algn="l"/>
            <a:r>
              <a:rPr sz="1500" b="1">
                <a:solidFill>
                  <a:srgbClr val="FFFFFF"/>
                </a:solidFill>
                <a:latin typeface="Aptos"/>
              </a:rPr>
              <a:t>Scalable Design</a:t>
            </a:r>
          </a:p>
        </p:txBody>
      </p:sp>
      <p:sp>
        <p:nvSpPr>
          <p:cNvPr id="16" name="TextBox 15"/>
          <p:cNvSpPr txBox="1"/>
          <p:nvPr/>
        </p:nvSpPr>
        <p:spPr>
          <a:xfrm>
            <a:off x="1097280" y="3529584"/>
            <a:ext cx="9921240" cy="411480"/>
          </a:xfrm>
          <a:prstGeom prst="rect">
            <a:avLst/>
          </a:prstGeom>
          <a:noFill/>
        </p:spPr>
        <p:txBody>
          <a:bodyPr wrap="square" anchor="t">
            <a:spAutoFit/>
          </a:bodyPr>
          <a:lstStyle/>
          <a:p>
            <a:pPr algn="l"/>
            <a:r>
              <a:rPr sz="1150" b="0">
                <a:solidFill>
                  <a:srgbClr val="B2B9C2"/>
                </a:solidFill>
                <a:latin typeface="Aptos"/>
              </a:rPr>
              <a:t>The Django structure can be extended with additional modules.</a:t>
            </a:r>
          </a:p>
        </p:txBody>
      </p:sp>
      <p:sp>
        <p:nvSpPr>
          <p:cNvPr id="17" name="Rectangle 16"/>
          <p:cNvSpPr/>
          <p:nvPr/>
        </p:nvSpPr>
        <p:spPr>
          <a:xfrm>
            <a:off x="868680" y="4096512"/>
            <a:ext cx="82296" cy="5669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078224"/>
            <a:ext cx="9921240" cy="256032"/>
          </a:xfrm>
          <a:prstGeom prst="rect">
            <a:avLst/>
          </a:prstGeom>
          <a:noFill/>
        </p:spPr>
        <p:txBody>
          <a:bodyPr wrap="square" anchor="t">
            <a:spAutoFit/>
          </a:bodyPr>
          <a:lstStyle/>
          <a:p>
            <a:pPr algn="l"/>
            <a:r>
              <a:rPr sz="1500" b="1">
                <a:solidFill>
                  <a:srgbClr val="FFFFFF"/>
                </a:solidFill>
                <a:latin typeface="Aptos"/>
              </a:rPr>
              <a:t>DBMS Demonstration</a:t>
            </a:r>
          </a:p>
        </p:txBody>
      </p:sp>
      <p:sp>
        <p:nvSpPr>
          <p:cNvPr id="19" name="TextBox 18"/>
          <p:cNvSpPr txBox="1"/>
          <p:nvPr/>
        </p:nvSpPr>
        <p:spPr>
          <a:xfrm>
            <a:off x="1097280" y="4370832"/>
            <a:ext cx="9921240" cy="411480"/>
          </a:xfrm>
          <a:prstGeom prst="rect">
            <a:avLst/>
          </a:prstGeom>
          <a:noFill/>
        </p:spPr>
        <p:txBody>
          <a:bodyPr wrap="square" anchor="t">
            <a:spAutoFit/>
          </a:bodyPr>
          <a:lstStyle/>
          <a:p>
            <a:pPr algn="l"/>
            <a:r>
              <a:rPr sz="1150" b="0">
                <a:solidFill>
                  <a:srgbClr val="B2B9C2"/>
                </a:solidFill>
                <a:latin typeface="Aptos"/>
              </a:rPr>
              <a:t>The project shows practical use of models, relationships and CRUD operations.</a:t>
            </a:r>
          </a:p>
        </p:txBody>
      </p:sp>
      <p:sp>
        <p:nvSpPr>
          <p:cNvPr id="20" name="Rectangle 19"/>
          <p:cNvSpPr/>
          <p:nvPr/>
        </p:nvSpPr>
        <p:spPr>
          <a:xfrm>
            <a:off x="868680" y="4937760"/>
            <a:ext cx="82296" cy="566928"/>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919472"/>
            <a:ext cx="9921240" cy="256032"/>
          </a:xfrm>
          <a:prstGeom prst="rect">
            <a:avLst/>
          </a:prstGeom>
          <a:noFill/>
        </p:spPr>
        <p:txBody>
          <a:bodyPr wrap="square" anchor="t">
            <a:spAutoFit/>
          </a:bodyPr>
          <a:lstStyle/>
          <a:p>
            <a:pPr algn="l"/>
            <a:r>
              <a:rPr sz="1500" b="1">
                <a:solidFill>
                  <a:srgbClr val="FFFFFF"/>
                </a:solidFill>
                <a:latin typeface="Aptos"/>
              </a:rPr>
              <a:t>User-Friendly Flow</a:t>
            </a:r>
          </a:p>
        </p:txBody>
      </p:sp>
      <p:sp>
        <p:nvSpPr>
          <p:cNvPr id="22" name="TextBox 21"/>
          <p:cNvSpPr txBox="1"/>
          <p:nvPr/>
        </p:nvSpPr>
        <p:spPr>
          <a:xfrm>
            <a:off x="1097280" y="5212080"/>
            <a:ext cx="9921240" cy="411480"/>
          </a:xfrm>
          <a:prstGeom prst="rect">
            <a:avLst/>
          </a:prstGeom>
          <a:noFill/>
        </p:spPr>
        <p:txBody>
          <a:bodyPr wrap="square" anchor="t">
            <a:spAutoFit/>
          </a:bodyPr>
          <a:lstStyle/>
          <a:p>
            <a:pPr algn="l"/>
            <a:r>
              <a:rPr sz="1150" b="0">
                <a:solidFill>
                  <a:srgbClr val="B2B9C2"/>
                </a:solidFill>
                <a:latin typeface="Aptos"/>
              </a:rPr>
              <a:t>Authentication and cart features provide a clear user journey.</a:t>
            </a:r>
          </a:p>
        </p:txBody>
      </p:sp>
      <p:sp>
        <p:nvSpPr>
          <p:cNvPr id="23" name="Rectangle 22"/>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47472"/>
            <a:ext cx="2194560" cy="274320"/>
          </a:xfrm>
          <a:prstGeom prst="rect">
            <a:avLst/>
          </a:prstGeom>
          <a:noFill/>
        </p:spPr>
        <p:txBody>
          <a:bodyPr wrap="square" anchor="t">
            <a:spAutoFit/>
          </a:bodyPr>
          <a:lstStyle/>
          <a:p>
            <a:pPr algn="l"/>
            <a:r>
              <a:rPr sz="1000" b="1">
                <a:solidFill>
                  <a:srgbClr val="F26C2D"/>
                </a:solidFill>
                <a:latin typeface="Aptos"/>
              </a:rPr>
              <a:t>10 • IMPROVEMENTS</a:t>
            </a:r>
          </a:p>
        </p:txBody>
      </p:sp>
      <p:sp>
        <p:nvSpPr>
          <p:cNvPr id="5" name="TextBox 4"/>
          <p:cNvSpPr txBox="1"/>
          <p:nvPr/>
        </p:nvSpPr>
        <p:spPr>
          <a:xfrm>
            <a:off x="658368" y="658368"/>
            <a:ext cx="10607040" cy="566928"/>
          </a:xfrm>
          <a:prstGeom prst="rect">
            <a:avLst/>
          </a:prstGeom>
          <a:noFill/>
        </p:spPr>
        <p:txBody>
          <a:bodyPr wrap="square" anchor="t">
            <a:spAutoFit/>
          </a:bodyPr>
          <a:lstStyle/>
          <a:p>
            <a:pPr algn="l"/>
            <a:r>
              <a:rPr sz="3000" b="1">
                <a:solidFill>
                  <a:srgbClr val="FFFFFF"/>
                </a:solidFill>
                <a:latin typeface="Aptos Display"/>
              </a:rPr>
              <a:t>Future Scope</a:t>
            </a:r>
          </a:p>
        </p:txBody>
      </p:sp>
      <p:sp>
        <p:nvSpPr>
          <p:cNvPr id="6" name="Rectangle 5"/>
          <p:cNvSpPr/>
          <p:nvPr/>
        </p:nvSpPr>
        <p:spPr>
          <a:xfrm>
            <a:off x="658368" y="1280160"/>
            <a:ext cx="960120" cy="6400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09960" y="502920"/>
            <a:ext cx="502920" cy="320040"/>
          </a:xfrm>
          <a:prstGeom prst="rect">
            <a:avLst/>
          </a:prstGeom>
          <a:noFill/>
        </p:spPr>
        <p:txBody>
          <a:bodyPr wrap="square" anchor="t">
            <a:spAutoFit/>
          </a:bodyPr>
          <a:lstStyle/>
          <a:p>
            <a:pPr algn="r"/>
            <a:r>
              <a:rPr sz="1100" b="1">
                <a:solidFill>
                  <a:srgbClr val="B2B9C2"/>
                </a:solidFill>
                <a:latin typeface="Aptos"/>
              </a:rPr>
              <a:t>11</a:t>
            </a:r>
          </a:p>
        </p:txBody>
      </p:sp>
      <p:sp>
        <p:nvSpPr>
          <p:cNvPr id="8" name="Rounded Rectangle 7"/>
          <p:cNvSpPr/>
          <p:nvPr/>
        </p:nvSpPr>
        <p:spPr>
          <a:xfrm>
            <a:off x="658368" y="1572768"/>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847088"/>
            <a:ext cx="3035808" cy="310896"/>
          </a:xfrm>
          <a:prstGeom prst="rect">
            <a:avLst/>
          </a:prstGeom>
          <a:noFill/>
        </p:spPr>
        <p:txBody>
          <a:bodyPr wrap="square" anchor="t">
            <a:spAutoFit/>
          </a:bodyPr>
          <a:lstStyle/>
          <a:p>
            <a:pPr algn="ctr"/>
            <a:r>
              <a:rPr sz="1350" b="1">
                <a:solidFill>
                  <a:srgbClr val="FFFFFF"/>
                </a:solidFill>
                <a:latin typeface="Aptos"/>
              </a:rPr>
              <a:t>ONLINE ORDERS</a:t>
            </a:r>
          </a:p>
        </p:txBody>
      </p:sp>
      <p:sp>
        <p:nvSpPr>
          <p:cNvPr id="11" name="TextBox 10"/>
          <p:cNvSpPr txBox="1"/>
          <p:nvPr/>
        </p:nvSpPr>
        <p:spPr>
          <a:xfrm>
            <a:off x="914400" y="2322576"/>
            <a:ext cx="2944368" cy="475488"/>
          </a:xfrm>
          <a:prstGeom prst="rect">
            <a:avLst/>
          </a:prstGeom>
          <a:noFill/>
        </p:spPr>
        <p:txBody>
          <a:bodyPr wrap="square" anchor="t">
            <a:spAutoFit/>
          </a:bodyPr>
          <a:lstStyle/>
          <a:p>
            <a:pPr algn="ctr"/>
            <a:r>
              <a:rPr sz="1050" b="0">
                <a:solidFill>
                  <a:srgbClr val="B2B9C2"/>
                </a:solidFill>
                <a:latin typeface="Aptos"/>
              </a:rPr>
              <a:t>Convert cart selections into confirmed orders.</a:t>
            </a:r>
          </a:p>
        </p:txBody>
      </p:sp>
      <p:sp>
        <p:nvSpPr>
          <p:cNvPr id="12" name="Rounded Rectangle 11"/>
          <p:cNvSpPr/>
          <p:nvPr/>
        </p:nvSpPr>
        <p:spPr>
          <a:xfrm>
            <a:off x="4480559" y="1572768"/>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59"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1847088"/>
            <a:ext cx="3035808" cy="310896"/>
          </a:xfrm>
          <a:prstGeom prst="rect">
            <a:avLst/>
          </a:prstGeom>
          <a:noFill/>
        </p:spPr>
        <p:txBody>
          <a:bodyPr wrap="square" anchor="t">
            <a:spAutoFit/>
          </a:bodyPr>
          <a:lstStyle/>
          <a:p>
            <a:pPr algn="ctr"/>
            <a:r>
              <a:rPr sz="1350" b="1">
                <a:solidFill>
                  <a:srgbClr val="FFFFFF"/>
                </a:solidFill>
                <a:latin typeface="Aptos"/>
              </a:rPr>
              <a:t>PAYMENTS</a:t>
            </a:r>
          </a:p>
        </p:txBody>
      </p:sp>
      <p:sp>
        <p:nvSpPr>
          <p:cNvPr id="15" name="TextBox 14"/>
          <p:cNvSpPr txBox="1"/>
          <p:nvPr/>
        </p:nvSpPr>
        <p:spPr>
          <a:xfrm>
            <a:off x="4736592" y="2322576"/>
            <a:ext cx="2944368" cy="475488"/>
          </a:xfrm>
          <a:prstGeom prst="rect">
            <a:avLst/>
          </a:prstGeom>
          <a:noFill/>
        </p:spPr>
        <p:txBody>
          <a:bodyPr wrap="square" anchor="t">
            <a:spAutoFit/>
          </a:bodyPr>
          <a:lstStyle/>
          <a:p>
            <a:pPr algn="ctr"/>
            <a:r>
              <a:rPr sz="1050" b="0">
                <a:solidFill>
                  <a:srgbClr val="B2B9C2"/>
                </a:solidFill>
                <a:latin typeface="Aptos"/>
              </a:rPr>
              <a:t>Integrate a secure online payment gateway.</a:t>
            </a:r>
          </a:p>
        </p:txBody>
      </p:sp>
      <p:sp>
        <p:nvSpPr>
          <p:cNvPr id="16" name="Rounded Rectangle 15"/>
          <p:cNvSpPr/>
          <p:nvPr/>
        </p:nvSpPr>
        <p:spPr>
          <a:xfrm>
            <a:off x="8302752" y="1572768"/>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2752" y="1572768"/>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1847088"/>
            <a:ext cx="3035808" cy="310896"/>
          </a:xfrm>
          <a:prstGeom prst="rect">
            <a:avLst/>
          </a:prstGeom>
          <a:noFill/>
        </p:spPr>
        <p:txBody>
          <a:bodyPr wrap="square" anchor="t">
            <a:spAutoFit/>
          </a:bodyPr>
          <a:lstStyle/>
          <a:p>
            <a:pPr algn="ctr"/>
            <a:r>
              <a:rPr sz="1350" b="1">
                <a:solidFill>
                  <a:srgbClr val="FFFFFF"/>
                </a:solidFill>
                <a:latin typeface="Aptos"/>
              </a:rPr>
              <a:t>DELIVERY TRACKING</a:t>
            </a:r>
          </a:p>
        </p:txBody>
      </p:sp>
      <p:sp>
        <p:nvSpPr>
          <p:cNvPr id="19" name="TextBox 18"/>
          <p:cNvSpPr txBox="1"/>
          <p:nvPr/>
        </p:nvSpPr>
        <p:spPr>
          <a:xfrm>
            <a:off x="8558784" y="2322576"/>
            <a:ext cx="2944368" cy="475488"/>
          </a:xfrm>
          <a:prstGeom prst="rect">
            <a:avLst/>
          </a:prstGeom>
          <a:noFill/>
        </p:spPr>
        <p:txBody>
          <a:bodyPr wrap="square" anchor="t">
            <a:spAutoFit/>
          </a:bodyPr>
          <a:lstStyle/>
          <a:p>
            <a:pPr algn="ctr"/>
            <a:r>
              <a:rPr sz="1050" b="0">
                <a:solidFill>
                  <a:srgbClr val="B2B9C2"/>
                </a:solidFill>
                <a:latin typeface="Aptos"/>
              </a:rPr>
              <a:t>Add order status and delivery tracking.</a:t>
            </a:r>
          </a:p>
        </p:txBody>
      </p:sp>
      <p:sp>
        <p:nvSpPr>
          <p:cNvPr id="20" name="Rounded Rectangle 19"/>
          <p:cNvSpPr/>
          <p:nvPr/>
        </p:nvSpPr>
        <p:spPr>
          <a:xfrm>
            <a:off x="658368" y="3566160"/>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566160"/>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840480"/>
            <a:ext cx="3035808" cy="310896"/>
          </a:xfrm>
          <a:prstGeom prst="rect">
            <a:avLst/>
          </a:prstGeom>
          <a:noFill/>
        </p:spPr>
        <p:txBody>
          <a:bodyPr wrap="square" anchor="t">
            <a:spAutoFit/>
          </a:bodyPr>
          <a:lstStyle/>
          <a:p>
            <a:pPr algn="ctr"/>
            <a:r>
              <a:rPr sz="1350" b="1">
                <a:solidFill>
                  <a:srgbClr val="FFFFFF"/>
                </a:solidFill>
                <a:latin typeface="Aptos"/>
              </a:rPr>
              <a:t>REVIEWS</a:t>
            </a:r>
          </a:p>
        </p:txBody>
      </p:sp>
      <p:sp>
        <p:nvSpPr>
          <p:cNvPr id="23" name="TextBox 22"/>
          <p:cNvSpPr txBox="1"/>
          <p:nvPr/>
        </p:nvSpPr>
        <p:spPr>
          <a:xfrm>
            <a:off x="914400" y="4315968"/>
            <a:ext cx="2944368" cy="475488"/>
          </a:xfrm>
          <a:prstGeom prst="rect">
            <a:avLst/>
          </a:prstGeom>
          <a:noFill/>
        </p:spPr>
        <p:txBody>
          <a:bodyPr wrap="square" anchor="t">
            <a:spAutoFit/>
          </a:bodyPr>
          <a:lstStyle/>
          <a:p>
            <a:pPr algn="ctr"/>
            <a:r>
              <a:rPr sz="1050" b="0">
                <a:solidFill>
                  <a:srgbClr val="B2B9C2"/>
                </a:solidFill>
                <a:latin typeface="Aptos"/>
              </a:rPr>
              <a:t>Allow users to rate restaurants and food items.</a:t>
            </a:r>
          </a:p>
        </p:txBody>
      </p:sp>
      <p:sp>
        <p:nvSpPr>
          <p:cNvPr id="24" name="Rounded Rectangle 23"/>
          <p:cNvSpPr/>
          <p:nvPr/>
        </p:nvSpPr>
        <p:spPr>
          <a:xfrm>
            <a:off x="4480559" y="3566160"/>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59" y="3566160"/>
            <a:ext cx="3456432" cy="91440"/>
          </a:xfrm>
          <a:prstGeom prst="rect">
            <a:avLst/>
          </a:prstGeom>
          <a:solidFill>
            <a:srgbClr val="FF92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1727" y="3840480"/>
            <a:ext cx="3035808" cy="310896"/>
          </a:xfrm>
          <a:prstGeom prst="rect">
            <a:avLst/>
          </a:prstGeom>
          <a:noFill/>
        </p:spPr>
        <p:txBody>
          <a:bodyPr wrap="square" anchor="t">
            <a:spAutoFit/>
          </a:bodyPr>
          <a:lstStyle/>
          <a:p>
            <a:pPr algn="ctr"/>
            <a:r>
              <a:rPr sz="1350" b="1">
                <a:solidFill>
                  <a:srgbClr val="FFFFFF"/>
                </a:solidFill>
                <a:latin typeface="Aptos"/>
              </a:rPr>
              <a:t>ADMIN DASHBOARD</a:t>
            </a:r>
          </a:p>
        </p:txBody>
      </p:sp>
      <p:sp>
        <p:nvSpPr>
          <p:cNvPr id="27" name="TextBox 26"/>
          <p:cNvSpPr txBox="1"/>
          <p:nvPr/>
        </p:nvSpPr>
        <p:spPr>
          <a:xfrm>
            <a:off x="4736592" y="4315968"/>
            <a:ext cx="2944368" cy="475488"/>
          </a:xfrm>
          <a:prstGeom prst="rect">
            <a:avLst/>
          </a:prstGeom>
          <a:noFill/>
        </p:spPr>
        <p:txBody>
          <a:bodyPr wrap="square" anchor="t">
            <a:spAutoFit/>
          </a:bodyPr>
          <a:lstStyle/>
          <a:p>
            <a:pPr algn="ctr"/>
            <a:r>
              <a:rPr sz="1050" b="0">
                <a:solidFill>
                  <a:srgbClr val="B2B9C2"/>
                </a:solidFill>
                <a:latin typeface="Aptos"/>
              </a:rPr>
              <a:t>Add analytics for users, orders and revenue.</a:t>
            </a:r>
          </a:p>
        </p:txBody>
      </p:sp>
      <p:sp>
        <p:nvSpPr>
          <p:cNvPr id="28" name="Rounded Rectangle 27"/>
          <p:cNvSpPr/>
          <p:nvPr/>
        </p:nvSpPr>
        <p:spPr>
          <a:xfrm>
            <a:off x="8302752" y="3566160"/>
            <a:ext cx="3456432" cy="1572768"/>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02752" y="3566160"/>
            <a:ext cx="3456432" cy="91440"/>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20" y="3840480"/>
            <a:ext cx="3035808" cy="310896"/>
          </a:xfrm>
          <a:prstGeom prst="rect">
            <a:avLst/>
          </a:prstGeom>
          <a:noFill/>
        </p:spPr>
        <p:txBody>
          <a:bodyPr wrap="square" anchor="t">
            <a:spAutoFit/>
          </a:bodyPr>
          <a:lstStyle/>
          <a:p>
            <a:pPr algn="ctr"/>
            <a:r>
              <a:rPr sz="1350" b="1">
                <a:solidFill>
                  <a:srgbClr val="FFFFFF"/>
                </a:solidFill>
                <a:latin typeface="Aptos"/>
              </a:rPr>
              <a:t>SEARCH &amp; FILTERS</a:t>
            </a:r>
          </a:p>
        </p:txBody>
      </p:sp>
      <p:sp>
        <p:nvSpPr>
          <p:cNvPr id="31" name="TextBox 30"/>
          <p:cNvSpPr txBox="1"/>
          <p:nvPr/>
        </p:nvSpPr>
        <p:spPr>
          <a:xfrm>
            <a:off x="8558784" y="4315968"/>
            <a:ext cx="2944368" cy="475488"/>
          </a:xfrm>
          <a:prstGeom prst="rect">
            <a:avLst/>
          </a:prstGeom>
          <a:noFill/>
        </p:spPr>
        <p:txBody>
          <a:bodyPr wrap="square" anchor="t">
            <a:spAutoFit/>
          </a:bodyPr>
          <a:lstStyle/>
          <a:p>
            <a:pPr algn="ctr"/>
            <a:r>
              <a:rPr sz="1050" b="0">
                <a:solidFill>
                  <a:srgbClr val="B2B9C2"/>
                </a:solidFill>
                <a:latin typeface="Aptos"/>
              </a:rPr>
              <a:t>Improve food discovery with category and price filters.</a:t>
            </a:r>
          </a:p>
        </p:txBody>
      </p:sp>
      <p:sp>
        <p:nvSpPr>
          <p:cNvPr id="32" name="Rectangle 31"/>
          <p:cNvSpPr/>
          <p:nvPr/>
        </p:nvSpPr>
        <p:spPr>
          <a:xfrm>
            <a:off x="658368" y="6419088"/>
            <a:ext cx="10881360" cy="13716"/>
          </a:xfrm>
          <a:prstGeom prst="rect">
            <a:avLst/>
          </a:prstGeom>
          <a:solidFill>
            <a:srgbClr val="25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492240"/>
            <a:ext cx="6217920" cy="201168"/>
          </a:xfrm>
          <a:prstGeom prst="rect">
            <a:avLst/>
          </a:prstGeom>
          <a:noFill/>
        </p:spPr>
        <p:txBody>
          <a:bodyPr wrap="square" anchor="t">
            <a:spAutoFit/>
          </a:bodyPr>
          <a:lstStyle/>
          <a:p>
            <a:pPr algn="l"/>
            <a:r>
              <a:rPr sz="850" b="1">
                <a:solidFill>
                  <a:srgbClr val="B2B9C2"/>
                </a:solidFill>
                <a:latin typeface="Aptos"/>
              </a:rPr>
              <a:t>FOODGO • FOOD DELIVERY MANAGEMENT 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6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658368"/>
            <a:ext cx="2743200" cy="320040"/>
          </a:xfrm>
          <a:prstGeom prst="rect">
            <a:avLst/>
          </a:prstGeom>
          <a:noFill/>
        </p:spPr>
        <p:txBody>
          <a:bodyPr wrap="square" anchor="t">
            <a:spAutoFit/>
          </a:bodyPr>
          <a:lstStyle/>
          <a:p>
            <a:pPr algn="l"/>
            <a:r>
              <a:rPr sz="1100" b="1">
                <a:solidFill>
                  <a:srgbClr val="F26C2D"/>
                </a:solidFill>
                <a:latin typeface="Aptos"/>
              </a:rPr>
              <a:t>CONCLUSION</a:t>
            </a:r>
          </a:p>
        </p:txBody>
      </p:sp>
      <p:sp>
        <p:nvSpPr>
          <p:cNvPr id="5" name="TextBox 4"/>
          <p:cNvSpPr txBox="1"/>
          <p:nvPr/>
        </p:nvSpPr>
        <p:spPr>
          <a:xfrm>
            <a:off x="777240" y="1261872"/>
            <a:ext cx="10241280" cy="685800"/>
          </a:xfrm>
          <a:prstGeom prst="rect">
            <a:avLst/>
          </a:prstGeom>
          <a:noFill/>
        </p:spPr>
        <p:txBody>
          <a:bodyPr wrap="square" anchor="t">
            <a:spAutoFit/>
          </a:bodyPr>
          <a:lstStyle/>
          <a:p>
            <a:pPr algn="l"/>
            <a:r>
              <a:rPr sz="3200" b="1">
                <a:solidFill>
                  <a:srgbClr val="FFFFFF"/>
                </a:solidFill>
                <a:latin typeface="Aptos Display"/>
              </a:rPr>
              <a:t>A Practical Food Delivery DBMS</a:t>
            </a:r>
          </a:p>
        </p:txBody>
      </p:sp>
      <p:sp>
        <p:nvSpPr>
          <p:cNvPr id="6" name="Rounded Rectangle 5"/>
          <p:cNvSpPr/>
          <p:nvPr/>
        </p:nvSpPr>
        <p:spPr>
          <a:xfrm>
            <a:off x="777240" y="2331720"/>
            <a:ext cx="10561320" cy="1874519"/>
          </a:xfrm>
          <a:prstGeom prst="roundRect">
            <a:avLst/>
          </a:prstGeom>
          <a:solidFill>
            <a:srgbClr val="252D39"/>
          </a:solidFill>
          <a:ln>
            <a:solidFill>
              <a:srgbClr val="424B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651760"/>
            <a:ext cx="10012680" cy="1234440"/>
          </a:xfrm>
          <a:prstGeom prst="rect">
            <a:avLst/>
          </a:prstGeom>
          <a:noFill/>
        </p:spPr>
        <p:txBody>
          <a:bodyPr wrap="square" anchor="t">
            <a:spAutoFit/>
          </a:bodyPr>
          <a:lstStyle/>
          <a:p>
            <a:pPr algn="l"/>
            <a:r>
              <a:rPr sz="1700" b="0">
                <a:solidFill>
                  <a:srgbClr val="E4E8EC"/>
                </a:solidFill>
                <a:latin typeface="Aptos"/>
              </a:rPr>
              <a:t>FoodGo demonstrates how Django and PostgreSQL can be combined to build a structured food delivery management system. The project brings together user authentication, restaurant and food-item management, cart functionality and CRUD operations while applying important database concepts in a practical web application.</a:t>
            </a:r>
          </a:p>
        </p:txBody>
      </p:sp>
      <p:sp>
        <p:nvSpPr>
          <p:cNvPr id="8" name="TextBox 7"/>
          <p:cNvSpPr txBox="1"/>
          <p:nvPr/>
        </p:nvSpPr>
        <p:spPr>
          <a:xfrm>
            <a:off x="777240" y="4892040"/>
            <a:ext cx="3840480" cy="594360"/>
          </a:xfrm>
          <a:prstGeom prst="rect">
            <a:avLst/>
          </a:prstGeom>
          <a:noFill/>
        </p:spPr>
        <p:txBody>
          <a:bodyPr wrap="square" anchor="t">
            <a:spAutoFit/>
          </a:bodyPr>
          <a:lstStyle/>
          <a:p>
            <a:pPr algn="l"/>
            <a:r>
              <a:rPr sz="2800" b="1">
                <a:solidFill>
                  <a:srgbClr val="F26C2D"/>
                </a:solidFill>
                <a:latin typeface="Aptos Display"/>
              </a:rPr>
              <a:t>THANK YOU</a:t>
            </a:r>
          </a:p>
        </p:txBody>
      </p:sp>
      <p:sp>
        <p:nvSpPr>
          <p:cNvPr id="9" name="TextBox 8"/>
          <p:cNvSpPr txBox="1"/>
          <p:nvPr/>
        </p:nvSpPr>
        <p:spPr>
          <a:xfrm>
            <a:off x="804672" y="5532120"/>
            <a:ext cx="2743200" cy="365760"/>
          </a:xfrm>
          <a:prstGeom prst="rect">
            <a:avLst/>
          </a:prstGeom>
          <a:noFill/>
        </p:spPr>
        <p:txBody>
          <a:bodyPr wrap="square" anchor="t">
            <a:spAutoFit/>
          </a:bodyPr>
          <a:lstStyle/>
          <a:p>
            <a:pPr algn="l"/>
            <a:r>
              <a:rPr sz="1600" b="1">
                <a:solidFill>
                  <a:srgbClr val="BEC5CD"/>
                </a:solidFill>
                <a:latin typeface="Apto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